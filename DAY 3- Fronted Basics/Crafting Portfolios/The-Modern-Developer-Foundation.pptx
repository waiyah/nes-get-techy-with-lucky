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Merriweather Light" panose="00000400000000000000" pitchFamily="2" charset="0"/>
      <p:regular r:id="rId13"/>
      <p:italic r:id="rId14"/>
    </p:embeddedFont>
    <p:embeddedFont>
      <p:font typeface="Open Sans" panose="020B0606030504020204" pitchFamily="3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0" d="100"/>
          <a:sy n="40" d="100"/>
        </p:scale>
        <p:origin x="34" y="7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0157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6.sv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sv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sv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 Id="rId9" Type="http://schemas.openxmlformats.org/officeDocument/2006/relationships/image" Target="../media/image37.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653784"/>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403C4E"/>
                </a:solidFill>
                <a:latin typeface="Merriweather Bold" pitchFamily="34" charset="0"/>
                <a:ea typeface="Merriweather Bold" pitchFamily="34" charset="-122"/>
                <a:cs typeface="Merriweather Bold" pitchFamily="34" charset="-120"/>
              </a:rPr>
              <a:t>The Modern Developer Foundation</a:t>
            </a:r>
            <a:endParaRPr lang="en-US" sz="3900" dirty="0"/>
          </a:p>
        </p:txBody>
      </p:sp>
      <p:sp>
        <p:nvSpPr>
          <p:cNvPr id="4" name="Text 1"/>
          <p:cNvSpPr/>
          <p:nvPr/>
        </p:nvSpPr>
        <p:spPr>
          <a:xfrm>
            <a:off x="6280190" y="4191595"/>
            <a:ext cx="7556421" cy="396954"/>
          </a:xfrm>
          <a:prstGeom prst="rect">
            <a:avLst/>
          </a:prstGeom>
          <a:noFill/>
          <a:ln/>
        </p:spPr>
        <p:txBody>
          <a:bodyPr wrap="none" lIns="0" tIns="0" rIns="0" bIns="0" rtlCol="0" anchor="t"/>
          <a:lstStyle/>
          <a:p>
            <a:pPr marL="0" indent="0" algn="l">
              <a:lnSpc>
                <a:spcPts val="3100"/>
              </a:lnSpc>
              <a:buNone/>
            </a:pPr>
            <a:r>
              <a:rPr lang="en-US" sz="1950" dirty="0">
                <a:solidFill>
                  <a:srgbClr val="403C4E"/>
                </a:solidFill>
                <a:latin typeface="Open Sans" pitchFamily="34" charset="0"/>
                <a:ea typeface="Open Sans" pitchFamily="34" charset="-122"/>
                <a:cs typeface="Open Sans" pitchFamily="34" charset="-120"/>
              </a:rPr>
              <a:t>From Zero to Portfolio: Master HTML, CSS &amp; JavaScript</a:t>
            </a:r>
            <a:endParaRPr lang="en-US" sz="1950" dirty="0"/>
          </a:p>
        </p:txBody>
      </p:sp>
      <p:sp>
        <p:nvSpPr>
          <p:cNvPr id="5" name="Text 2"/>
          <p:cNvSpPr/>
          <p:nvPr/>
        </p:nvSpPr>
        <p:spPr>
          <a:xfrm>
            <a:off x="6577846" y="5035034"/>
            <a:ext cx="7258764" cy="317540"/>
          </a:xfrm>
          <a:prstGeom prst="rect">
            <a:avLst/>
          </a:prstGeom>
          <a:noFill/>
          <a:ln/>
        </p:spPr>
        <p:txBody>
          <a:bodyPr wrap="none" lIns="0" tIns="0" rIns="0" bIns="0" rtlCol="0" anchor="t"/>
          <a:lstStyle/>
          <a:p>
            <a:pPr marL="0" indent="0" algn="l">
              <a:lnSpc>
                <a:spcPts val="2500"/>
              </a:lnSpc>
              <a:buNone/>
            </a:pPr>
            <a:r>
              <a:rPr lang="en-US" sz="1550" dirty="0">
                <a:solidFill>
                  <a:srgbClr val="403C4E"/>
                </a:solidFill>
                <a:latin typeface="Open Sans" pitchFamily="34" charset="0"/>
                <a:ea typeface="Open Sans" pitchFamily="34" charset="-122"/>
                <a:cs typeface="Open Sans" pitchFamily="34" charset="-120"/>
              </a:rPr>
              <a:t>"Your First Line of Code is Your First Step to Digital Freedom"</a:t>
            </a:r>
            <a:endParaRPr lang="en-US" sz="1550" dirty="0"/>
          </a:p>
        </p:txBody>
      </p:sp>
      <p:sp>
        <p:nvSpPr>
          <p:cNvPr id="6" name="Shape 3"/>
          <p:cNvSpPr/>
          <p:nvPr/>
        </p:nvSpPr>
        <p:spPr>
          <a:xfrm>
            <a:off x="6280190" y="4811792"/>
            <a:ext cx="22860" cy="764024"/>
          </a:xfrm>
          <a:prstGeom prst="rect">
            <a:avLst/>
          </a:prstGeom>
          <a:solidFill>
            <a:srgbClr val="FFAD94"/>
          </a:solidFill>
          <a:ln/>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Shape 0"/>
          <p:cNvSpPr/>
          <p:nvPr/>
        </p:nvSpPr>
        <p:spPr>
          <a:xfrm>
            <a:off x="793790" y="553641"/>
            <a:ext cx="1048822" cy="373142"/>
          </a:xfrm>
          <a:prstGeom prst="roundRect">
            <a:avLst>
              <a:gd name="adj" fmla="val 17872"/>
            </a:avLst>
          </a:prstGeom>
          <a:solidFill>
            <a:srgbClr val="FFD8CC"/>
          </a:solidFill>
          <a:ln/>
        </p:spPr>
        <p:txBody>
          <a:bodyPr/>
          <a:lstStyle/>
          <a:p>
            <a:endParaRPr lang="en-US"/>
          </a:p>
        </p:txBody>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2852" y="660797"/>
            <a:ext cx="158710" cy="158710"/>
          </a:xfrm>
          <a:prstGeom prst="rect">
            <a:avLst/>
          </a:prstGeom>
        </p:spPr>
      </p:pic>
      <p:sp>
        <p:nvSpPr>
          <p:cNvPr id="5" name="Text 1"/>
          <p:cNvSpPr/>
          <p:nvPr/>
        </p:nvSpPr>
        <p:spPr>
          <a:xfrm>
            <a:off x="1150858" y="613172"/>
            <a:ext cx="572691" cy="254079"/>
          </a:xfrm>
          <a:prstGeom prst="rect">
            <a:avLst/>
          </a:prstGeom>
          <a:noFill/>
          <a:ln/>
        </p:spPr>
        <p:txBody>
          <a:bodyPr wrap="none" lIns="0" tIns="0" rIns="0" bIns="0" rtlCol="0" anchor="t"/>
          <a:lstStyle/>
          <a:p>
            <a:pPr marL="0" indent="0" algn="l">
              <a:lnSpc>
                <a:spcPts val="2000"/>
              </a:lnSpc>
              <a:buNone/>
            </a:pPr>
            <a:r>
              <a:rPr lang="en-US" sz="1250" dirty="0">
                <a:solidFill>
                  <a:srgbClr val="403C4E"/>
                </a:solidFill>
                <a:latin typeface="Open Sans" pitchFamily="34" charset="0"/>
                <a:ea typeface="Open Sans" pitchFamily="34" charset="-122"/>
                <a:cs typeface="Open Sans" pitchFamily="34" charset="-120"/>
              </a:rPr>
              <a:t>CAREER</a:t>
            </a:r>
            <a:endParaRPr lang="en-US" sz="1250" dirty="0"/>
          </a:p>
        </p:txBody>
      </p:sp>
      <p:sp>
        <p:nvSpPr>
          <p:cNvPr id="6" name="Text 2"/>
          <p:cNvSpPr/>
          <p:nvPr/>
        </p:nvSpPr>
        <p:spPr>
          <a:xfrm>
            <a:off x="793790" y="1006078"/>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403C4E"/>
                </a:solidFill>
                <a:latin typeface="Merriweather Bold" pitchFamily="34" charset="0"/>
                <a:ea typeface="Merriweather Bold" pitchFamily="34" charset="-122"/>
                <a:cs typeface="Merriweather Bold" pitchFamily="34" charset="-120"/>
              </a:rPr>
              <a:t>In the Digital Economy, You Are What You Build</a:t>
            </a:r>
            <a:endParaRPr lang="en-US" sz="3900" dirty="0"/>
          </a:p>
        </p:txBody>
      </p:sp>
      <p:sp>
        <p:nvSpPr>
          <p:cNvPr id="7" name="Text 3"/>
          <p:cNvSpPr/>
          <p:nvPr/>
        </p:nvSpPr>
        <p:spPr>
          <a:xfrm>
            <a:off x="793790" y="2543889"/>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403C4E"/>
                </a:solidFill>
                <a:latin typeface="Open Sans" pitchFamily="34" charset="0"/>
                <a:ea typeface="Open Sans" pitchFamily="34" charset="-122"/>
                <a:cs typeface="Open Sans" pitchFamily="34" charset="-120"/>
              </a:rPr>
              <a:t>A portfolio is not optional—it's your proof of skill, your professional identity, and your ticket to opportunities. In today's job market, employers want to see what you can create, not just what you studied. Your portfolio becomes your living resume, constantly working for you even while you sleep.</a:t>
            </a:r>
            <a:endParaRPr lang="en-US" sz="1550" dirty="0"/>
          </a:p>
        </p:txBody>
      </p:sp>
      <p:sp>
        <p:nvSpPr>
          <p:cNvPr id="8" name="Shape 4"/>
          <p:cNvSpPr/>
          <p:nvPr/>
        </p:nvSpPr>
        <p:spPr>
          <a:xfrm>
            <a:off x="650915" y="4037290"/>
            <a:ext cx="3821906" cy="2572226"/>
          </a:xfrm>
          <a:prstGeom prst="roundRect">
            <a:avLst>
              <a:gd name="adj" fmla="val 5556"/>
            </a:avLst>
          </a:prstGeom>
          <a:solidFill>
            <a:srgbClr val="FFAD94"/>
          </a:solidFill>
          <a:ln/>
        </p:spPr>
        <p:txBody>
          <a:bodyPr/>
          <a:lstStyle/>
          <a:p>
            <a:endParaRPr lang="en-US"/>
          </a:p>
        </p:txBody>
      </p:sp>
      <p:sp>
        <p:nvSpPr>
          <p:cNvPr id="9" name="Text 5"/>
          <p:cNvSpPr/>
          <p:nvPr/>
        </p:nvSpPr>
        <p:spPr>
          <a:xfrm>
            <a:off x="849273" y="423564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03C4E"/>
                </a:solidFill>
                <a:latin typeface="Merriweather Bold" pitchFamily="34" charset="0"/>
                <a:ea typeface="Merriweather Bold" pitchFamily="34" charset="-122"/>
                <a:cs typeface="Merriweather Bold" pitchFamily="34" charset="-120"/>
              </a:rPr>
              <a:t>Old World</a:t>
            </a:r>
            <a:endParaRPr lang="en-US" sz="1950" dirty="0"/>
          </a:p>
        </p:txBody>
      </p:sp>
      <p:sp>
        <p:nvSpPr>
          <p:cNvPr id="10" name="Text 6"/>
          <p:cNvSpPr/>
          <p:nvPr/>
        </p:nvSpPr>
        <p:spPr>
          <a:xfrm>
            <a:off x="849273" y="4744164"/>
            <a:ext cx="3425190" cy="1587795"/>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000000"/>
                </a:solidFill>
                <a:latin typeface="Open Sans" pitchFamily="34" charset="0"/>
                <a:ea typeface="Open Sans" pitchFamily="34" charset="-122"/>
                <a:cs typeface="Open Sans" pitchFamily="34" charset="-120"/>
              </a:rPr>
              <a:t>Resume tells your story</a:t>
            </a:r>
            <a:endParaRPr lang="en-US" sz="1550" dirty="0"/>
          </a:p>
          <a:p>
            <a:pPr marL="342900" indent="-342900" algn="l">
              <a:lnSpc>
                <a:spcPts val="2500"/>
              </a:lnSpc>
              <a:buSzPct val="100000"/>
              <a:buChar char="•"/>
            </a:pPr>
            <a:r>
              <a:rPr lang="en-US" sz="1550" dirty="0">
                <a:solidFill>
                  <a:srgbClr val="000000"/>
                </a:solidFill>
                <a:latin typeface="Open Sans" pitchFamily="34" charset="0"/>
                <a:ea typeface="Open Sans" pitchFamily="34" charset="-122"/>
                <a:cs typeface="Open Sans" pitchFamily="34" charset="-120"/>
              </a:rPr>
              <a:t>Degree shows theory</a:t>
            </a:r>
            <a:endParaRPr lang="en-US" sz="1550" dirty="0"/>
          </a:p>
          <a:p>
            <a:pPr marL="342900" indent="-342900" algn="l">
              <a:lnSpc>
                <a:spcPts val="2500"/>
              </a:lnSpc>
              <a:buSzPct val="100000"/>
              <a:buChar char="•"/>
            </a:pPr>
            <a:r>
              <a:rPr lang="en-US" sz="1550" dirty="0">
                <a:solidFill>
                  <a:srgbClr val="000000"/>
                </a:solidFill>
                <a:latin typeface="Open Sans" pitchFamily="34" charset="0"/>
                <a:ea typeface="Open Sans" pitchFamily="34" charset="-122"/>
                <a:cs typeface="Open Sans" pitchFamily="34" charset="-120"/>
              </a:rPr>
              <a:t>No online presence means invisible</a:t>
            </a:r>
            <a:endParaRPr lang="en-US" sz="1550" dirty="0"/>
          </a:p>
          <a:p>
            <a:pPr marL="342900" indent="-342900" algn="l">
              <a:lnSpc>
                <a:spcPts val="2500"/>
              </a:lnSpc>
              <a:buSzPct val="100000"/>
              <a:buChar char="•"/>
            </a:pPr>
            <a:r>
              <a:rPr lang="en-US" sz="1550" dirty="0">
                <a:solidFill>
                  <a:srgbClr val="000000"/>
                </a:solidFill>
                <a:latin typeface="Open Sans" pitchFamily="34" charset="0"/>
                <a:ea typeface="Open Sans" pitchFamily="34" charset="-122"/>
                <a:cs typeface="Open Sans" pitchFamily="34" charset="-120"/>
              </a:rPr>
              <a:t>Wait for opportunities</a:t>
            </a:r>
            <a:endParaRPr lang="en-US" sz="1550" dirty="0"/>
          </a:p>
        </p:txBody>
      </p:sp>
      <p:sp>
        <p:nvSpPr>
          <p:cNvPr id="11" name="Text 7"/>
          <p:cNvSpPr/>
          <p:nvPr/>
        </p:nvSpPr>
        <p:spPr>
          <a:xfrm>
            <a:off x="4821674" y="423564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03C4E"/>
                </a:solidFill>
                <a:latin typeface="Merriweather Bold" pitchFamily="34" charset="0"/>
                <a:ea typeface="Merriweather Bold" pitchFamily="34" charset="-122"/>
                <a:cs typeface="Merriweather Bold" pitchFamily="34" charset="-120"/>
              </a:rPr>
              <a:t>New World</a:t>
            </a:r>
            <a:endParaRPr lang="en-US" sz="1950" dirty="0"/>
          </a:p>
        </p:txBody>
      </p:sp>
      <p:sp>
        <p:nvSpPr>
          <p:cNvPr id="12" name="Text 8"/>
          <p:cNvSpPr/>
          <p:nvPr/>
        </p:nvSpPr>
        <p:spPr>
          <a:xfrm>
            <a:off x="4821674" y="4744164"/>
            <a:ext cx="3536156" cy="1270236"/>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403C4E"/>
                </a:solidFill>
                <a:latin typeface="Open Sans" pitchFamily="34" charset="0"/>
                <a:ea typeface="Open Sans" pitchFamily="34" charset="-122"/>
                <a:cs typeface="Open Sans" pitchFamily="34" charset="-120"/>
              </a:rPr>
              <a:t>Portfolio shows your work</a:t>
            </a:r>
            <a:endParaRPr lang="en-US" sz="1550" dirty="0"/>
          </a:p>
          <a:p>
            <a:pPr marL="342900" indent="-342900" algn="l">
              <a:lnSpc>
                <a:spcPts val="2500"/>
              </a:lnSpc>
              <a:buSzPct val="100000"/>
              <a:buChar char="•"/>
            </a:pPr>
            <a:r>
              <a:rPr lang="en-US" sz="1550" dirty="0">
                <a:solidFill>
                  <a:srgbClr val="403C4E"/>
                </a:solidFill>
                <a:latin typeface="Open Sans" pitchFamily="34" charset="0"/>
                <a:ea typeface="Open Sans" pitchFamily="34" charset="-122"/>
                <a:cs typeface="Open Sans" pitchFamily="34" charset="-120"/>
              </a:rPr>
              <a:t>Projects prove your skill</a:t>
            </a:r>
            <a:endParaRPr lang="en-US" sz="1550" dirty="0"/>
          </a:p>
          <a:p>
            <a:pPr marL="342900" indent="-342900" algn="l">
              <a:lnSpc>
                <a:spcPts val="2500"/>
              </a:lnSpc>
              <a:buSzPct val="100000"/>
              <a:buChar char="•"/>
            </a:pPr>
            <a:r>
              <a:rPr lang="en-US" sz="1550" dirty="0">
                <a:solidFill>
                  <a:srgbClr val="403C4E"/>
                </a:solidFill>
                <a:latin typeface="Open Sans" pitchFamily="34" charset="0"/>
                <a:ea typeface="Open Sans" pitchFamily="34" charset="-122"/>
                <a:cs typeface="Open Sans" pitchFamily="34" charset="-120"/>
              </a:rPr>
              <a:t>Live website reaches globally</a:t>
            </a:r>
            <a:endParaRPr lang="en-US" sz="1550" dirty="0"/>
          </a:p>
          <a:p>
            <a:pPr marL="342900" indent="-342900" algn="l">
              <a:lnSpc>
                <a:spcPts val="2500"/>
              </a:lnSpc>
              <a:buSzPct val="100000"/>
              <a:buChar char="•"/>
            </a:pPr>
            <a:r>
              <a:rPr lang="en-US" sz="1550" dirty="0">
                <a:solidFill>
                  <a:srgbClr val="403C4E"/>
                </a:solidFill>
                <a:latin typeface="Open Sans" pitchFamily="34" charset="0"/>
                <a:ea typeface="Open Sans" pitchFamily="34" charset="-122"/>
                <a:cs typeface="Open Sans" pitchFamily="34" charset="-120"/>
              </a:rPr>
              <a:t>Opportunities find you</a:t>
            </a:r>
            <a:endParaRPr lang="en-US" sz="1550" dirty="0"/>
          </a:p>
        </p:txBody>
      </p:sp>
      <p:sp>
        <p:nvSpPr>
          <p:cNvPr id="13" name="Shape 9"/>
          <p:cNvSpPr/>
          <p:nvPr/>
        </p:nvSpPr>
        <p:spPr>
          <a:xfrm>
            <a:off x="793790" y="6416451"/>
            <a:ext cx="7556421" cy="843201"/>
          </a:xfrm>
          <a:prstGeom prst="roundRect">
            <a:avLst>
              <a:gd name="adj" fmla="val 9886"/>
            </a:avLst>
          </a:prstGeom>
          <a:solidFill>
            <a:srgbClr val="FFC4B3"/>
          </a:solidFill>
          <a:ln/>
        </p:spPr>
        <p:txBody>
          <a:bodyPr/>
          <a:lstStyle/>
          <a:p>
            <a:endParaRPr lang="en-US"/>
          </a:p>
        </p:txBody>
      </p:sp>
      <p:pic>
        <p:nvPicPr>
          <p:cNvPr id="14" name="Image 2" descr="preencoded.png"/>
          <p:cNvPicPr>
            <a:picLocks noChangeAspect="1"/>
          </p:cNvPicPr>
          <p:nvPr/>
        </p:nvPicPr>
        <p:blipFill>
          <a:blip r:embed="rId6"/>
          <a:stretch>
            <a:fillRect/>
          </a:stretch>
        </p:blipFill>
        <p:spPr>
          <a:xfrm>
            <a:off x="992148" y="6719346"/>
            <a:ext cx="248007" cy="198358"/>
          </a:xfrm>
          <a:prstGeom prst="rect">
            <a:avLst/>
          </a:prstGeom>
        </p:spPr>
      </p:pic>
      <p:sp>
        <p:nvSpPr>
          <p:cNvPr id="15" name="Text 10"/>
          <p:cNvSpPr/>
          <p:nvPr/>
        </p:nvSpPr>
        <p:spPr>
          <a:xfrm>
            <a:off x="1438513" y="6664339"/>
            <a:ext cx="6713339"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Open Sans" pitchFamily="34" charset="0"/>
                <a:ea typeface="Open Sans" pitchFamily="34" charset="-122"/>
                <a:cs typeface="Open Sans" pitchFamily="34" charset="-120"/>
              </a:rPr>
              <a:t>"Your GitHub is the new CV. Your deployed site is the new interview."</a:t>
            </a:r>
            <a:endParaRPr lang="en-US" sz="15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075" y="545783"/>
            <a:ext cx="9242108" cy="619720"/>
          </a:xfrm>
          <a:prstGeom prst="rect">
            <a:avLst/>
          </a:prstGeom>
          <a:noFill/>
          <a:ln/>
        </p:spPr>
        <p:txBody>
          <a:bodyPr wrap="none" lIns="0" tIns="0" rIns="0" bIns="0" rtlCol="0" anchor="t"/>
          <a:lstStyle/>
          <a:p>
            <a:pPr marL="0" indent="0" algn="l">
              <a:lnSpc>
                <a:spcPts val="4850"/>
              </a:lnSpc>
              <a:buNone/>
            </a:pPr>
            <a:r>
              <a:rPr lang="en-US" sz="3900" b="1" dirty="0">
                <a:solidFill>
                  <a:srgbClr val="403C4E"/>
                </a:solidFill>
                <a:latin typeface="Merriweather Bold" pitchFamily="34" charset="0"/>
                <a:ea typeface="Merriweather Bold" pitchFamily="34" charset="-122"/>
                <a:cs typeface="Merriweather Bold" pitchFamily="34" charset="-120"/>
              </a:rPr>
              <a:t>The Holy Trinity of Web Development</a:t>
            </a:r>
            <a:endParaRPr lang="en-US" sz="3900" dirty="0"/>
          </a:p>
        </p:txBody>
      </p:sp>
      <p:sp>
        <p:nvSpPr>
          <p:cNvPr id="3" name="Text 1"/>
          <p:cNvSpPr/>
          <p:nvPr/>
        </p:nvSpPr>
        <p:spPr>
          <a:xfrm>
            <a:off x="793075" y="1561624"/>
            <a:ext cx="13044249" cy="633889"/>
          </a:xfrm>
          <a:prstGeom prst="rect">
            <a:avLst/>
          </a:prstGeom>
          <a:noFill/>
          <a:ln/>
        </p:spPr>
        <p:txBody>
          <a:bodyPr wrap="square" lIns="0" tIns="0" rIns="0" bIns="0" rtlCol="0" anchor="t"/>
          <a:lstStyle/>
          <a:p>
            <a:pPr marL="0" indent="0" algn="l">
              <a:lnSpc>
                <a:spcPts val="2450"/>
              </a:lnSpc>
              <a:buNone/>
            </a:pPr>
            <a:r>
              <a:rPr lang="en-US" sz="1550" dirty="0">
                <a:solidFill>
                  <a:srgbClr val="403C4E"/>
                </a:solidFill>
                <a:latin typeface="Open Sans" pitchFamily="34" charset="0"/>
                <a:ea typeface="Open Sans" pitchFamily="34" charset="-122"/>
                <a:cs typeface="Open Sans" pitchFamily="34" charset="-120"/>
              </a:rPr>
              <a:t>Every website you've ever visited is built with these three technologies working together. Think of it like building a house—each technology plays a crucial role in creating something amazing.</a:t>
            </a:r>
            <a:endParaRPr lang="en-US" sz="1550" dirty="0"/>
          </a:p>
        </p:txBody>
      </p:sp>
      <p:pic>
        <p:nvPicPr>
          <p:cNvPr id="4" name="Image 0" descr="preencoded.png"/>
          <p:cNvPicPr>
            <a:picLocks noChangeAspect="1"/>
          </p:cNvPicPr>
          <p:nvPr/>
        </p:nvPicPr>
        <p:blipFill>
          <a:blip r:embed="rId3"/>
          <a:stretch>
            <a:fillRect/>
          </a:stretch>
        </p:blipFill>
        <p:spPr>
          <a:xfrm>
            <a:off x="793075" y="2418278"/>
            <a:ext cx="3011686" cy="3011686"/>
          </a:xfrm>
          <a:prstGeom prst="rect">
            <a:avLst/>
          </a:prstGeom>
        </p:spPr>
      </p:pic>
      <p:sp>
        <p:nvSpPr>
          <p:cNvPr id="5" name="Text 2"/>
          <p:cNvSpPr/>
          <p:nvPr/>
        </p:nvSpPr>
        <p:spPr>
          <a:xfrm>
            <a:off x="793075" y="5677495"/>
            <a:ext cx="3045381" cy="309801"/>
          </a:xfrm>
          <a:prstGeom prst="rect">
            <a:avLst/>
          </a:prstGeom>
          <a:noFill/>
          <a:ln/>
        </p:spPr>
        <p:txBody>
          <a:bodyPr wrap="none" lIns="0" tIns="0" rIns="0" bIns="0" rtlCol="0" anchor="t"/>
          <a:lstStyle/>
          <a:p>
            <a:pPr marL="0" indent="0" algn="l">
              <a:lnSpc>
                <a:spcPts val="2400"/>
              </a:lnSpc>
              <a:buNone/>
            </a:pPr>
            <a:r>
              <a:rPr lang="en-US" sz="1950" b="1" dirty="0">
                <a:solidFill>
                  <a:srgbClr val="403C4E"/>
                </a:solidFill>
                <a:latin typeface="Merriweather Bold" pitchFamily="34" charset="0"/>
                <a:ea typeface="Merriweather Bold" pitchFamily="34" charset="-122"/>
                <a:cs typeface="Merriweather Bold" pitchFamily="34" charset="-120"/>
              </a:rPr>
              <a:t>HTML: Structure &amp; Walls</a:t>
            </a:r>
            <a:endParaRPr lang="en-US" sz="1950" dirty="0"/>
          </a:p>
        </p:txBody>
      </p:sp>
      <p:sp>
        <p:nvSpPr>
          <p:cNvPr id="6" name="Text 3"/>
          <p:cNvSpPr/>
          <p:nvPr/>
        </p:nvSpPr>
        <p:spPr>
          <a:xfrm>
            <a:off x="793075" y="6106120"/>
            <a:ext cx="4183023" cy="1267778"/>
          </a:xfrm>
          <a:prstGeom prst="rect">
            <a:avLst/>
          </a:prstGeom>
          <a:noFill/>
          <a:ln/>
        </p:spPr>
        <p:txBody>
          <a:bodyPr wrap="square" lIns="0" tIns="0" rIns="0" bIns="0" rtlCol="0" anchor="t"/>
          <a:lstStyle/>
          <a:p>
            <a:pPr marL="0" indent="0" algn="l">
              <a:lnSpc>
                <a:spcPts val="2450"/>
              </a:lnSpc>
              <a:buNone/>
            </a:pPr>
            <a:r>
              <a:rPr lang="en-US" sz="1550" dirty="0">
                <a:solidFill>
                  <a:srgbClr val="403C4E"/>
                </a:solidFill>
                <a:latin typeface="Open Sans" pitchFamily="34" charset="0"/>
                <a:ea typeface="Open Sans" pitchFamily="34" charset="-122"/>
                <a:cs typeface="Open Sans" pitchFamily="34" charset="-120"/>
              </a:rPr>
              <a:t>The foundation and content. HTML defines what goes on your page—headings, paragraphs, images, and links. It's the skeleton that holds everything together.</a:t>
            </a:r>
            <a:endParaRPr lang="en-US" sz="1550" dirty="0"/>
          </a:p>
        </p:txBody>
      </p:sp>
      <p:pic>
        <p:nvPicPr>
          <p:cNvPr id="7" name="Image 1" descr="preencoded.png"/>
          <p:cNvPicPr>
            <a:picLocks noChangeAspect="1"/>
          </p:cNvPicPr>
          <p:nvPr/>
        </p:nvPicPr>
        <p:blipFill>
          <a:blip r:embed="rId4"/>
          <a:stretch>
            <a:fillRect/>
          </a:stretch>
        </p:blipFill>
        <p:spPr>
          <a:xfrm>
            <a:off x="5223629" y="2418278"/>
            <a:ext cx="3011686" cy="3011686"/>
          </a:xfrm>
          <a:prstGeom prst="rect">
            <a:avLst/>
          </a:prstGeom>
        </p:spPr>
      </p:pic>
      <p:sp>
        <p:nvSpPr>
          <p:cNvPr id="8" name="Text 4"/>
          <p:cNvSpPr/>
          <p:nvPr/>
        </p:nvSpPr>
        <p:spPr>
          <a:xfrm>
            <a:off x="5223629" y="5677495"/>
            <a:ext cx="2478524" cy="309801"/>
          </a:xfrm>
          <a:prstGeom prst="rect">
            <a:avLst/>
          </a:prstGeom>
          <a:noFill/>
          <a:ln/>
        </p:spPr>
        <p:txBody>
          <a:bodyPr wrap="none" lIns="0" tIns="0" rIns="0" bIns="0" rtlCol="0" anchor="t"/>
          <a:lstStyle/>
          <a:p>
            <a:pPr marL="0" indent="0" algn="l">
              <a:lnSpc>
                <a:spcPts val="2400"/>
              </a:lnSpc>
              <a:buNone/>
            </a:pPr>
            <a:r>
              <a:rPr lang="en-US" sz="1950" b="1" dirty="0">
                <a:solidFill>
                  <a:srgbClr val="403C4E"/>
                </a:solidFill>
                <a:latin typeface="Merriweather Bold" pitchFamily="34" charset="0"/>
                <a:ea typeface="Merriweather Bold" pitchFamily="34" charset="-122"/>
                <a:cs typeface="Merriweather Bold" pitchFamily="34" charset="-120"/>
              </a:rPr>
              <a:t>CSS: Paint &amp; Decor</a:t>
            </a:r>
            <a:endParaRPr lang="en-US" sz="1950" dirty="0"/>
          </a:p>
        </p:txBody>
      </p:sp>
      <p:sp>
        <p:nvSpPr>
          <p:cNvPr id="9" name="Text 5"/>
          <p:cNvSpPr/>
          <p:nvPr/>
        </p:nvSpPr>
        <p:spPr>
          <a:xfrm>
            <a:off x="5223629" y="6106120"/>
            <a:ext cx="4183023" cy="950833"/>
          </a:xfrm>
          <a:prstGeom prst="rect">
            <a:avLst/>
          </a:prstGeom>
          <a:noFill/>
          <a:ln/>
        </p:spPr>
        <p:txBody>
          <a:bodyPr wrap="square" lIns="0" tIns="0" rIns="0" bIns="0" rtlCol="0" anchor="t"/>
          <a:lstStyle/>
          <a:p>
            <a:pPr marL="0" indent="0" algn="l">
              <a:lnSpc>
                <a:spcPts val="2450"/>
              </a:lnSpc>
              <a:buNone/>
            </a:pPr>
            <a:r>
              <a:rPr lang="en-US" sz="1550" dirty="0">
                <a:solidFill>
                  <a:srgbClr val="403C4E"/>
                </a:solidFill>
                <a:latin typeface="Open Sans" pitchFamily="34" charset="0"/>
                <a:ea typeface="Open Sans" pitchFamily="34" charset="-122"/>
                <a:cs typeface="Open Sans" pitchFamily="34" charset="-120"/>
              </a:rPr>
              <a:t>The visual styling and layout. CSS makes your site beautiful with colors, fonts, spacing, and responsive designs that work on any device.</a:t>
            </a:r>
            <a:endParaRPr lang="en-US" sz="1550" dirty="0"/>
          </a:p>
        </p:txBody>
      </p:sp>
      <p:pic>
        <p:nvPicPr>
          <p:cNvPr id="10" name="Image 2" descr="preencoded.png"/>
          <p:cNvPicPr>
            <a:picLocks noChangeAspect="1"/>
          </p:cNvPicPr>
          <p:nvPr/>
        </p:nvPicPr>
        <p:blipFill>
          <a:blip r:embed="rId5"/>
          <a:stretch>
            <a:fillRect/>
          </a:stretch>
        </p:blipFill>
        <p:spPr>
          <a:xfrm>
            <a:off x="9654183" y="2418278"/>
            <a:ext cx="3011805" cy="3011805"/>
          </a:xfrm>
          <a:prstGeom prst="rect">
            <a:avLst/>
          </a:prstGeom>
        </p:spPr>
      </p:pic>
      <p:sp>
        <p:nvSpPr>
          <p:cNvPr id="11" name="Text 6"/>
          <p:cNvSpPr/>
          <p:nvPr/>
        </p:nvSpPr>
        <p:spPr>
          <a:xfrm>
            <a:off x="9654183" y="5677614"/>
            <a:ext cx="4183142" cy="619601"/>
          </a:xfrm>
          <a:prstGeom prst="rect">
            <a:avLst/>
          </a:prstGeom>
          <a:noFill/>
          <a:ln/>
        </p:spPr>
        <p:txBody>
          <a:bodyPr wrap="square" lIns="0" tIns="0" rIns="0" bIns="0" rtlCol="0" anchor="t"/>
          <a:lstStyle/>
          <a:p>
            <a:pPr marL="0" indent="0" algn="l">
              <a:lnSpc>
                <a:spcPts val="2400"/>
              </a:lnSpc>
              <a:buNone/>
            </a:pPr>
            <a:r>
              <a:rPr lang="en-US" sz="1950" b="1" dirty="0">
                <a:solidFill>
                  <a:srgbClr val="403C4E"/>
                </a:solidFill>
                <a:latin typeface="Merriweather Bold" pitchFamily="34" charset="0"/>
                <a:ea typeface="Merriweather Bold" pitchFamily="34" charset="-122"/>
                <a:cs typeface="Merriweather Bold" pitchFamily="34" charset="-120"/>
              </a:rPr>
              <a:t>JavaScript: Electricity &amp; Interactivity</a:t>
            </a:r>
            <a:endParaRPr lang="en-US" sz="1950" dirty="0"/>
          </a:p>
        </p:txBody>
      </p:sp>
      <p:sp>
        <p:nvSpPr>
          <p:cNvPr id="12" name="Text 7"/>
          <p:cNvSpPr/>
          <p:nvPr/>
        </p:nvSpPr>
        <p:spPr>
          <a:xfrm>
            <a:off x="9654183" y="6416040"/>
            <a:ext cx="4183142" cy="1267778"/>
          </a:xfrm>
          <a:prstGeom prst="rect">
            <a:avLst/>
          </a:prstGeom>
          <a:noFill/>
          <a:ln/>
        </p:spPr>
        <p:txBody>
          <a:bodyPr wrap="square" lIns="0" tIns="0" rIns="0" bIns="0" rtlCol="0" anchor="t"/>
          <a:lstStyle/>
          <a:p>
            <a:pPr marL="0" indent="0" algn="l">
              <a:lnSpc>
                <a:spcPts val="2450"/>
              </a:lnSpc>
              <a:buNone/>
            </a:pPr>
            <a:r>
              <a:rPr lang="en-US" sz="1550" dirty="0">
                <a:solidFill>
                  <a:srgbClr val="403C4E"/>
                </a:solidFill>
                <a:latin typeface="Open Sans" pitchFamily="34" charset="0"/>
                <a:ea typeface="Open Sans" pitchFamily="34" charset="-122"/>
                <a:cs typeface="Open Sans" pitchFamily="34" charset="-120"/>
              </a:rPr>
              <a:t>The behavior and functionality. JavaScript brings your site to life with working buttons, animations, form validation, and dynamic content.</a:t>
            </a:r>
            <a:endParaRPr lang="en-US" sz="15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790" y="1042988"/>
            <a:ext cx="1483876" cy="388382"/>
          </a:xfrm>
          <a:prstGeom prst="roundRect">
            <a:avLst>
              <a:gd name="adj" fmla="val 17171"/>
            </a:avLst>
          </a:prstGeom>
          <a:noFill/>
          <a:ln w="7620">
            <a:solidFill>
              <a:srgbClr val="FFAD94"/>
            </a:solidFill>
            <a:prstDash val="solid"/>
          </a:ln>
        </p:spPr>
        <p:txBody>
          <a:bodyPr/>
          <a:lstStyle/>
          <a:p>
            <a:endParaRPr lang="en-US"/>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0472" y="1157764"/>
            <a:ext cx="158710" cy="158710"/>
          </a:xfrm>
          <a:prstGeom prst="rect">
            <a:avLst/>
          </a:prstGeom>
        </p:spPr>
      </p:pic>
      <p:sp>
        <p:nvSpPr>
          <p:cNvPr id="4" name="Text 1"/>
          <p:cNvSpPr/>
          <p:nvPr/>
        </p:nvSpPr>
        <p:spPr>
          <a:xfrm>
            <a:off x="1158478" y="1110139"/>
            <a:ext cx="992505" cy="254079"/>
          </a:xfrm>
          <a:prstGeom prst="rect">
            <a:avLst/>
          </a:prstGeom>
          <a:noFill/>
          <a:ln/>
        </p:spPr>
        <p:txBody>
          <a:bodyPr wrap="none" lIns="0" tIns="0" rIns="0" bIns="0" rtlCol="0" anchor="t"/>
          <a:lstStyle/>
          <a:p>
            <a:pPr marL="0" indent="0" algn="l">
              <a:lnSpc>
                <a:spcPts val="2000"/>
              </a:lnSpc>
              <a:buNone/>
            </a:pPr>
            <a:r>
              <a:rPr lang="en-US" sz="1250" dirty="0">
                <a:solidFill>
                  <a:srgbClr val="FFAD94"/>
                </a:solidFill>
                <a:latin typeface="Open Sans" pitchFamily="34" charset="0"/>
                <a:ea typeface="Open Sans" pitchFamily="34" charset="-122"/>
                <a:cs typeface="Open Sans" pitchFamily="34" charset="-120"/>
              </a:rPr>
              <a:t>HTML BASICS</a:t>
            </a:r>
            <a:endParaRPr lang="en-US" sz="1250" dirty="0"/>
          </a:p>
        </p:txBody>
      </p:sp>
      <p:sp>
        <p:nvSpPr>
          <p:cNvPr id="5" name="Text 2"/>
          <p:cNvSpPr/>
          <p:nvPr/>
        </p:nvSpPr>
        <p:spPr>
          <a:xfrm>
            <a:off x="793790" y="1510665"/>
            <a:ext cx="8553093" cy="620078"/>
          </a:xfrm>
          <a:prstGeom prst="rect">
            <a:avLst/>
          </a:prstGeom>
          <a:noFill/>
          <a:ln/>
        </p:spPr>
        <p:txBody>
          <a:bodyPr wrap="none" lIns="0" tIns="0" rIns="0" bIns="0" rtlCol="0" anchor="t"/>
          <a:lstStyle/>
          <a:p>
            <a:pPr marL="0" indent="0" algn="l">
              <a:lnSpc>
                <a:spcPts val="4850"/>
              </a:lnSpc>
              <a:buNone/>
            </a:pPr>
            <a:r>
              <a:rPr lang="en-US" sz="3900" b="1" dirty="0">
                <a:solidFill>
                  <a:srgbClr val="403C4E"/>
                </a:solidFill>
                <a:latin typeface="Merriweather Bold" pitchFamily="34" charset="0"/>
                <a:ea typeface="Merriweather Bold" pitchFamily="34" charset="-122"/>
                <a:cs typeface="Merriweather Bold" pitchFamily="34" charset="-120"/>
              </a:rPr>
              <a:t>HTML in 60 Seconds: The Skeleton</a:t>
            </a:r>
            <a:endParaRPr lang="en-US" sz="3900" dirty="0"/>
          </a:p>
        </p:txBody>
      </p:sp>
      <p:sp>
        <p:nvSpPr>
          <p:cNvPr id="6" name="Text 3"/>
          <p:cNvSpPr/>
          <p:nvPr/>
        </p:nvSpPr>
        <p:spPr>
          <a:xfrm>
            <a:off x="793790" y="2428399"/>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403C4E"/>
                </a:solidFill>
                <a:latin typeface="Open Sans" pitchFamily="34" charset="0"/>
                <a:ea typeface="Open Sans" pitchFamily="34" charset="-122"/>
                <a:cs typeface="Open Sans" pitchFamily="34" charset="-120"/>
              </a:rPr>
              <a:t>HTML is simpler than you think. It's just about wrapping your content in tags that give it meaning. Each tag tells the browser what role that piece of content plays on your page. Master these five essential tags and you'll understand 80% of what you'll use daily.</a:t>
            </a:r>
            <a:endParaRPr lang="en-US" sz="1550" dirty="0"/>
          </a:p>
        </p:txBody>
      </p:sp>
      <p:sp>
        <p:nvSpPr>
          <p:cNvPr id="7" name="Shape 4"/>
          <p:cNvSpPr/>
          <p:nvPr/>
        </p:nvSpPr>
        <p:spPr>
          <a:xfrm>
            <a:off x="793790" y="3286720"/>
            <a:ext cx="3111937" cy="1476256"/>
          </a:xfrm>
          <a:prstGeom prst="roundRect">
            <a:avLst>
              <a:gd name="adj" fmla="val 5647"/>
            </a:avLst>
          </a:prstGeom>
          <a:solidFill>
            <a:srgbClr val="FFD8CC"/>
          </a:solidFill>
          <a:ln w="7620">
            <a:solidFill>
              <a:srgbClr val="E5BEB2"/>
            </a:solidFill>
            <a:prstDash val="solid"/>
          </a:ln>
        </p:spPr>
        <p:txBody>
          <a:bodyPr/>
          <a:lstStyle/>
          <a:p>
            <a:endParaRPr lang="en-US"/>
          </a:p>
        </p:txBody>
      </p:sp>
      <p:sp>
        <p:nvSpPr>
          <p:cNvPr id="8" name="Text 5"/>
          <p:cNvSpPr/>
          <p:nvPr/>
        </p:nvSpPr>
        <p:spPr>
          <a:xfrm>
            <a:off x="999768" y="349269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03C4E"/>
                </a:solidFill>
                <a:latin typeface="Merriweather Bold" pitchFamily="34" charset="0"/>
                <a:ea typeface="Merriweather Bold" pitchFamily="34" charset="-122"/>
                <a:cs typeface="Merriweather Bold" pitchFamily="34" charset="-120"/>
              </a:rPr>
              <a:t>&lt;h1&gt;Title&lt;/h1&gt;</a:t>
            </a:r>
            <a:endParaRPr lang="en-US" sz="1950" dirty="0"/>
          </a:p>
        </p:txBody>
      </p:sp>
      <p:sp>
        <p:nvSpPr>
          <p:cNvPr id="9" name="Text 6"/>
          <p:cNvSpPr/>
          <p:nvPr/>
        </p:nvSpPr>
        <p:spPr>
          <a:xfrm>
            <a:off x="999768" y="3921919"/>
            <a:ext cx="2699980" cy="635079"/>
          </a:xfrm>
          <a:prstGeom prst="rect">
            <a:avLst/>
          </a:prstGeom>
          <a:noFill/>
          <a:ln/>
        </p:spPr>
        <p:txBody>
          <a:bodyPr wrap="square" lIns="0" tIns="0" rIns="0" bIns="0" rtlCol="0" anchor="t"/>
          <a:lstStyle/>
          <a:p>
            <a:pPr marL="0" indent="0" algn="l">
              <a:lnSpc>
                <a:spcPts val="2500"/>
              </a:lnSpc>
              <a:buNone/>
            </a:pPr>
            <a:r>
              <a:rPr lang="en-US" sz="1550" dirty="0">
                <a:solidFill>
                  <a:srgbClr val="403C4E"/>
                </a:solidFill>
                <a:latin typeface="Open Sans" pitchFamily="34" charset="0"/>
                <a:ea typeface="Open Sans" pitchFamily="34" charset="-122"/>
                <a:cs typeface="Open Sans" pitchFamily="34" charset="-120"/>
              </a:rPr>
              <a:t>The main headline that captures attention</a:t>
            </a:r>
            <a:endParaRPr lang="en-US" sz="1550" dirty="0"/>
          </a:p>
        </p:txBody>
      </p:sp>
      <p:sp>
        <p:nvSpPr>
          <p:cNvPr id="10" name="Shape 7"/>
          <p:cNvSpPr/>
          <p:nvPr/>
        </p:nvSpPr>
        <p:spPr>
          <a:xfrm>
            <a:off x="4104084" y="3286720"/>
            <a:ext cx="3111937" cy="1476256"/>
          </a:xfrm>
          <a:prstGeom prst="roundRect">
            <a:avLst>
              <a:gd name="adj" fmla="val 5647"/>
            </a:avLst>
          </a:prstGeom>
          <a:solidFill>
            <a:srgbClr val="FFD8CC"/>
          </a:solidFill>
          <a:ln w="7620">
            <a:solidFill>
              <a:srgbClr val="E5BEB2"/>
            </a:solidFill>
            <a:prstDash val="solid"/>
          </a:ln>
        </p:spPr>
        <p:txBody>
          <a:bodyPr/>
          <a:lstStyle/>
          <a:p>
            <a:endParaRPr lang="en-US"/>
          </a:p>
        </p:txBody>
      </p:sp>
      <p:sp>
        <p:nvSpPr>
          <p:cNvPr id="11" name="Text 8"/>
          <p:cNvSpPr/>
          <p:nvPr/>
        </p:nvSpPr>
        <p:spPr>
          <a:xfrm>
            <a:off x="4310063" y="349269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03C4E"/>
                </a:solidFill>
                <a:latin typeface="Merriweather Bold" pitchFamily="34" charset="0"/>
                <a:ea typeface="Merriweather Bold" pitchFamily="34" charset="-122"/>
                <a:cs typeface="Merriweather Bold" pitchFamily="34" charset="-120"/>
              </a:rPr>
              <a:t>&lt;p&gt;Paragraph&lt;/p&gt;</a:t>
            </a:r>
            <a:endParaRPr lang="en-US" sz="1950" dirty="0"/>
          </a:p>
        </p:txBody>
      </p:sp>
      <p:sp>
        <p:nvSpPr>
          <p:cNvPr id="12" name="Text 9"/>
          <p:cNvSpPr/>
          <p:nvPr/>
        </p:nvSpPr>
        <p:spPr>
          <a:xfrm>
            <a:off x="4310063" y="3921919"/>
            <a:ext cx="2699980" cy="635079"/>
          </a:xfrm>
          <a:prstGeom prst="rect">
            <a:avLst/>
          </a:prstGeom>
          <a:noFill/>
          <a:ln/>
        </p:spPr>
        <p:txBody>
          <a:bodyPr wrap="square" lIns="0" tIns="0" rIns="0" bIns="0" rtlCol="0" anchor="t"/>
          <a:lstStyle/>
          <a:p>
            <a:pPr marL="0" indent="0" algn="l">
              <a:lnSpc>
                <a:spcPts val="2500"/>
              </a:lnSpc>
              <a:buNone/>
            </a:pPr>
            <a:r>
              <a:rPr lang="en-US" sz="1550" dirty="0">
                <a:solidFill>
                  <a:srgbClr val="403C4E"/>
                </a:solidFill>
                <a:latin typeface="Open Sans" pitchFamily="34" charset="0"/>
                <a:ea typeface="Open Sans" pitchFamily="34" charset="-122"/>
                <a:cs typeface="Open Sans" pitchFamily="34" charset="-120"/>
              </a:rPr>
              <a:t>Your text content and main body copy</a:t>
            </a:r>
            <a:endParaRPr lang="en-US" sz="1550" dirty="0"/>
          </a:p>
        </p:txBody>
      </p:sp>
      <p:sp>
        <p:nvSpPr>
          <p:cNvPr id="13" name="Shape 10"/>
          <p:cNvSpPr/>
          <p:nvPr/>
        </p:nvSpPr>
        <p:spPr>
          <a:xfrm>
            <a:off x="7414379" y="3286720"/>
            <a:ext cx="3111937" cy="1476256"/>
          </a:xfrm>
          <a:prstGeom prst="roundRect">
            <a:avLst>
              <a:gd name="adj" fmla="val 5647"/>
            </a:avLst>
          </a:prstGeom>
          <a:solidFill>
            <a:srgbClr val="FFD8CC"/>
          </a:solidFill>
          <a:ln w="7620">
            <a:solidFill>
              <a:srgbClr val="E5BEB2"/>
            </a:solidFill>
            <a:prstDash val="solid"/>
          </a:ln>
        </p:spPr>
        <p:txBody>
          <a:bodyPr/>
          <a:lstStyle/>
          <a:p>
            <a:endParaRPr lang="en-US"/>
          </a:p>
        </p:txBody>
      </p:sp>
      <p:sp>
        <p:nvSpPr>
          <p:cNvPr id="14" name="Text 11"/>
          <p:cNvSpPr/>
          <p:nvPr/>
        </p:nvSpPr>
        <p:spPr>
          <a:xfrm>
            <a:off x="7620357" y="3492698"/>
            <a:ext cx="2611279" cy="310158"/>
          </a:xfrm>
          <a:prstGeom prst="rect">
            <a:avLst/>
          </a:prstGeom>
          <a:noFill/>
          <a:ln/>
        </p:spPr>
        <p:txBody>
          <a:bodyPr wrap="none" lIns="0" tIns="0" rIns="0" bIns="0" rtlCol="0" anchor="t"/>
          <a:lstStyle/>
          <a:p>
            <a:pPr marL="0" indent="0" algn="l">
              <a:lnSpc>
                <a:spcPts val="2400"/>
              </a:lnSpc>
              <a:buNone/>
            </a:pPr>
            <a:r>
              <a:rPr lang="en-US" sz="1950" b="1" dirty="0">
                <a:solidFill>
                  <a:srgbClr val="403C4E"/>
                </a:solidFill>
                <a:latin typeface="Merriweather Bold" pitchFamily="34" charset="0"/>
                <a:ea typeface="Merriweather Bold" pitchFamily="34" charset="-122"/>
                <a:cs typeface="Merriweather Bold" pitchFamily="34" charset="-120"/>
              </a:rPr>
              <a:t>&lt;a href="#"&gt;Link&lt;/a&gt;</a:t>
            </a:r>
            <a:endParaRPr lang="en-US" sz="1950" dirty="0"/>
          </a:p>
        </p:txBody>
      </p:sp>
      <p:sp>
        <p:nvSpPr>
          <p:cNvPr id="15" name="Text 12"/>
          <p:cNvSpPr/>
          <p:nvPr/>
        </p:nvSpPr>
        <p:spPr>
          <a:xfrm>
            <a:off x="7620357" y="3921919"/>
            <a:ext cx="2699980" cy="635079"/>
          </a:xfrm>
          <a:prstGeom prst="rect">
            <a:avLst/>
          </a:prstGeom>
          <a:noFill/>
          <a:ln/>
        </p:spPr>
        <p:txBody>
          <a:bodyPr wrap="square" lIns="0" tIns="0" rIns="0" bIns="0" rtlCol="0" anchor="t"/>
          <a:lstStyle/>
          <a:p>
            <a:pPr marL="0" indent="0" algn="l">
              <a:lnSpc>
                <a:spcPts val="2500"/>
              </a:lnSpc>
              <a:buNone/>
            </a:pPr>
            <a:r>
              <a:rPr lang="en-US" sz="1550" dirty="0">
                <a:solidFill>
                  <a:srgbClr val="403C4E"/>
                </a:solidFill>
                <a:latin typeface="Open Sans" pitchFamily="34" charset="0"/>
                <a:ea typeface="Open Sans" pitchFamily="34" charset="-122"/>
                <a:cs typeface="Open Sans" pitchFamily="34" charset="-120"/>
              </a:rPr>
              <a:t>Connections to other pages and resources</a:t>
            </a:r>
            <a:endParaRPr lang="en-US" sz="1550" dirty="0"/>
          </a:p>
        </p:txBody>
      </p:sp>
      <p:sp>
        <p:nvSpPr>
          <p:cNvPr id="16" name="Shape 13"/>
          <p:cNvSpPr/>
          <p:nvPr/>
        </p:nvSpPr>
        <p:spPr>
          <a:xfrm>
            <a:off x="10724674" y="3286720"/>
            <a:ext cx="3111937" cy="1476256"/>
          </a:xfrm>
          <a:prstGeom prst="roundRect">
            <a:avLst>
              <a:gd name="adj" fmla="val 5647"/>
            </a:avLst>
          </a:prstGeom>
          <a:solidFill>
            <a:srgbClr val="FFD8CC"/>
          </a:solidFill>
          <a:ln w="7620">
            <a:solidFill>
              <a:srgbClr val="E5BEB2"/>
            </a:solidFill>
            <a:prstDash val="solid"/>
          </a:ln>
        </p:spPr>
        <p:txBody>
          <a:bodyPr/>
          <a:lstStyle/>
          <a:p>
            <a:endParaRPr lang="en-US"/>
          </a:p>
        </p:txBody>
      </p:sp>
      <p:sp>
        <p:nvSpPr>
          <p:cNvPr id="17" name="Text 14"/>
          <p:cNvSpPr/>
          <p:nvPr/>
        </p:nvSpPr>
        <p:spPr>
          <a:xfrm>
            <a:off x="10930652" y="349269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03C4E"/>
                </a:solidFill>
                <a:latin typeface="Merriweather Bold" pitchFamily="34" charset="0"/>
                <a:ea typeface="Merriweather Bold" pitchFamily="34" charset="-122"/>
                <a:cs typeface="Merriweather Bold" pitchFamily="34" charset="-120"/>
              </a:rPr>
              <a:t>&lt;img src="pic.jpg"&gt;</a:t>
            </a:r>
            <a:endParaRPr lang="en-US" sz="1950" dirty="0"/>
          </a:p>
        </p:txBody>
      </p:sp>
      <p:sp>
        <p:nvSpPr>
          <p:cNvPr id="18" name="Text 15"/>
          <p:cNvSpPr/>
          <p:nvPr/>
        </p:nvSpPr>
        <p:spPr>
          <a:xfrm>
            <a:off x="10930652" y="3921919"/>
            <a:ext cx="2699980" cy="635079"/>
          </a:xfrm>
          <a:prstGeom prst="rect">
            <a:avLst/>
          </a:prstGeom>
          <a:noFill/>
          <a:ln/>
        </p:spPr>
        <p:txBody>
          <a:bodyPr wrap="square" lIns="0" tIns="0" rIns="0" bIns="0" rtlCol="0" anchor="t"/>
          <a:lstStyle/>
          <a:p>
            <a:pPr marL="0" indent="0" algn="l">
              <a:lnSpc>
                <a:spcPts val="2500"/>
              </a:lnSpc>
              <a:buNone/>
            </a:pPr>
            <a:r>
              <a:rPr lang="en-US" sz="1550" dirty="0">
                <a:solidFill>
                  <a:srgbClr val="403C4E"/>
                </a:solidFill>
                <a:latin typeface="Open Sans" pitchFamily="34" charset="0"/>
                <a:ea typeface="Open Sans" pitchFamily="34" charset="-122"/>
                <a:cs typeface="Open Sans" pitchFamily="34" charset="-120"/>
              </a:rPr>
              <a:t>Visual elements that tell your story</a:t>
            </a:r>
            <a:endParaRPr lang="en-US" sz="1550" dirty="0"/>
          </a:p>
        </p:txBody>
      </p:sp>
      <p:sp>
        <p:nvSpPr>
          <p:cNvPr id="19" name="Shape 16"/>
          <p:cNvSpPr/>
          <p:nvPr/>
        </p:nvSpPr>
        <p:spPr>
          <a:xfrm>
            <a:off x="793790" y="4961334"/>
            <a:ext cx="13042821" cy="1158716"/>
          </a:xfrm>
          <a:prstGeom prst="roundRect">
            <a:avLst>
              <a:gd name="adj" fmla="val 7194"/>
            </a:avLst>
          </a:prstGeom>
          <a:solidFill>
            <a:srgbClr val="FFD8CC"/>
          </a:solidFill>
          <a:ln w="7620">
            <a:solidFill>
              <a:srgbClr val="E5BEB2"/>
            </a:solidFill>
            <a:prstDash val="solid"/>
          </a:ln>
        </p:spPr>
        <p:txBody>
          <a:bodyPr/>
          <a:lstStyle/>
          <a:p>
            <a:endParaRPr lang="en-US"/>
          </a:p>
        </p:txBody>
      </p:sp>
      <p:sp>
        <p:nvSpPr>
          <p:cNvPr id="20" name="Text 17"/>
          <p:cNvSpPr/>
          <p:nvPr/>
        </p:nvSpPr>
        <p:spPr>
          <a:xfrm>
            <a:off x="999768" y="5167313"/>
            <a:ext cx="2481143" cy="310158"/>
          </a:xfrm>
          <a:prstGeom prst="rect">
            <a:avLst/>
          </a:prstGeom>
          <a:noFill/>
          <a:ln/>
        </p:spPr>
        <p:txBody>
          <a:bodyPr wrap="none" lIns="0" tIns="0" rIns="0" bIns="0" rtlCol="0" anchor="t"/>
          <a:lstStyle/>
          <a:p>
            <a:pPr marL="0" indent="0" algn="l">
              <a:lnSpc>
                <a:spcPts val="2400"/>
              </a:lnSpc>
              <a:buNone/>
            </a:pPr>
            <a:r>
              <a:rPr lang="en-US" sz="1950" b="1" dirty="0">
                <a:solidFill>
                  <a:srgbClr val="403C4E"/>
                </a:solidFill>
                <a:latin typeface="Merriweather Bold" pitchFamily="34" charset="0"/>
                <a:ea typeface="Merriweather Bold" pitchFamily="34" charset="-122"/>
                <a:cs typeface="Merriweather Bold" pitchFamily="34" charset="-120"/>
              </a:rPr>
              <a:t>&lt;section&gt;&lt;/section&gt;</a:t>
            </a:r>
            <a:endParaRPr lang="en-US" sz="1950" dirty="0"/>
          </a:p>
        </p:txBody>
      </p:sp>
      <p:sp>
        <p:nvSpPr>
          <p:cNvPr id="21" name="Text 18"/>
          <p:cNvSpPr/>
          <p:nvPr/>
        </p:nvSpPr>
        <p:spPr>
          <a:xfrm>
            <a:off x="999768" y="5596533"/>
            <a:ext cx="12630864" cy="317540"/>
          </a:xfrm>
          <a:prstGeom prst="rect">
            <a:avLst/>
          </a:prstGeom>
          <a:noFill/>
          <a:ln/>
        </p:spPr>
        <p:txBody>
          <a:bodyPr wrap="none" lIns="0" tIns="0" rIns="0" bIns="0" rtlCol="0" anchor="t"/>
          <a:lstStyle/>
          <a:p>
            <a:pPr marL="0" indent="0" algn="l">
              <a:lnSpc>
                <a:spcPts val="2500"/>
              </a:lnSpc>
              <a:buNone/>
            </a:pPr>
            <a:r>
              <a:rPr lang="en-US" sz="1550" dirty="0">
                <a:solidFill>
                  <a:srgbClr val="403C4E"/>
                </a:solidFill>
                <a:latin typeface="Open Sans" pitchFamily="34" charset="0"/>
                <a:ea typeface="Open Sans" pitchFamily="34" charset="-122"/>
                <a:cs typeface="Open Sans" pitchFamily="34" charset="-120"/>
              </a:rPr>
              <a:t>Organizing and structuring your content</a:t>
            </a:r>
            <a:endParaRPr lang="en-US" sz="1550" dirty="0"/>
          </a:p>
        </p:txBody>
      </p:sp>
      <p:sp>
        <p:nvSpPr>
          <p:cNvPr id="22" name="Shape 19"/>
          <p:cNvSpPr/>
          <p:nvPr/>
        </p:nvSpPr>
        <p:spPr>
          <a:xfrm>
            <a:off x="793790" y="6343293"/>
            <a:ext cx="13042821" cy="843201"/>
          </a:xfrm>
          <a:prstGeom prst="roundRect">
            <a:avLst>
              <a:gd name="adj" fmla="val 9886"/>
            </a:avLst>
          </a:prstGeom>
          <a:solidFill>
            <a:srgbClr val="FFC4B3"/>
          </a:solidFill>
          <a:ln/>
        </p:spPr>
        <p:txBody>
          <a:bodyPr/>
          <a:lstStyle/>
          <a:p>
            <a:endParaRPr lang="en-US"/>
          </a:p>
        </p:txBody>
      </p:sp>
      <p:pic>
        <p:nvPicPr>
          <p:cNvPr id="23" name="Image 1" descr="preencoded.png"/>
          <p:cNvPicPr>
            <a:picLocks noChangeAspect="1"/>
          </p:cNvPicPr>
          <p:nvPr/>
        </p:nvPicPr>
        <p:blipFill>
          <a:blip r:embed="rId5"/>
          <a:stretch>
            <a:fillRect/>
          </a:stretch>
        </p:blipFill>
        <p:spPr>
          <a:xfrm>
            <a:off x="992148" y="6646188"/>
            <a:ext cx="248007" cy="198358"/>
          </a:xfrm>
          <a:prstGeom prst="rect">
            <a:avLst/>
          </a:prstGeom>
        </p:spPr>
      </p:pic>
      <p:sp>
        <p:nvSpPr>
          <p:cNvPr id="24" name="Text 20"/>
          <p:cNvSpPr/>
          <p:nvPr/>
        </p:nvSpPr>
        <p:spPr>
          <a:xfrm>
            <a:off x="1438513" y="6591181"/>
            <a:ext cx="12199739"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Open Sans" pitchFamily="34" charset="0"/>
                <a:ea typeface="Open Sans" pitchFamily="34" charset="-122"/>
                <a:cs typeface="Open Sans" pitchFamily="34" charset="-120"/>
              </a:rPr>
              <a:t>You just learned 80% of what you'll use daily. It's that simple.</a:t>
            </a:r>
            <a:endParaRPr lang="en-US" sz="15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599956"/>
            <a:ext cx="10738842" cy="620078"/>
          </a:xfrm>
          <a:prstGeom prst="rect">
            <a:avLst/>
          </a:prstGeom>
          <a:noFill/>
          <a:ln/>
        </p:spPr>
        <p:txBody>
          <a:bodyPr wrap="none" lIns="0" tIns="0" rIns="0" bIns="0" rtlCol="0" anchor="t"/>
          <a:lstStyle/>
          <a:p>
            <a:pPr marL="0" indent="0" algn="l">
              <a:lnSpc>
                <a:spcPts val="4850"/>
              </a:lnSpc>
              <a:buNone/>
            </a:pPr>
            <a:r>
              <a:rPr lang="en-US" sz="3900" b="1" dirty="0">
                <a:solidFill>
                  <a:srgbClr val="403C4E"/>
                </a:solidFill>
                <a:latin typeface="Merriweather Bold" pitchFamily="34" charset="0"/>
                <a:ea typeface="Merriweather Bold" pitchFamily="34" charset="-122"/>
                <a:cs typeface="Merriweather Bold" pitchFamily="34" charset="-120"/>
              </a:rPr>
              <a:t>CSS &amp; Tailwind: The Designer's Superpower</a:t>
            </a:r>
            <a:endParaRPr lang="en-US" sz="3900" dirty="0"/>
          </a:p>
        </p:txBody>
      </p:sp>
      <p:sp>
        <p:nvSpPr>
          <p:cNvPr id="3" name="Text 1"/>
          <p:cNvSpPr/>
          <p:nvPr/>
        </p:nvSpPr>
        <p:spPr>
          <a:xfrm>
            <a:off x="793790" y="1616869"/>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403C4E"/>
                </a:solidFill>
                <a:latin typeface="Open Sans" pitchFamily="34" charset="0"/>
                <a:ea typeface="Open Sans" pitchFamily="34" charset="-122"/>
                <a:cs typeface="Open Sans" pitchFamily="34" charset="-120"/>
              </a:rPr>
              <a:t>CSS is where your site gets its personality—from subtle animations to bold color schemes. While traditional CSS gives you complete control, modern tools like Tailwind CSS let you build beautiful interfaces at lightning speed.</a:t>
            </a:r>
            <a:endParaRPr lang="en-US" sz="1550" dirty="0"/>
          </a:p>
        </p:txBody>
      </p:sp>
      <p:pic>
        <p:nvPicPr>
          <p:cNvPr id="4" name="Image 0" descr="preencoded.png"/>
          <p:cNvPicPr>
            <a:picLocks noChangeAspect="1"/>
          </p:cNvPicPr>
          <p:nvPr/>
        </p:nvPicPr>
        <p:blipFill>
          <a:blip r:embed="rId3"/>
          <a:stretch>
            <a:fillRect/>
          </a:stretch>
        </p:blipFill>
        <p:spPr>
          <a:xfrm>
            <a:off x="793790" y="2698433"/>
            <a:ext cx="8308300" cy="4707969"/>
          </a:xfrm>
          <a:prstGeom prst="rect">
            <a:avLst/>
          </a:prstGeom>
        </p:spPr>
      </p:pic>
      <p:sp>
        <p:nvSpPr>
          <p:cNvPr id="5" name="Text 2"/>
          <p:cNvSpPr/>
          <p:nvPr/>
        </p:nvSpPr>
        <p:spPr>
          <a:xfrm>
            <a:off x="9593818" y="2676049"/>
            <a:ext cx="4250293" cy="744141"/>
          </a:xfrm>
          <a:prstGeom prst="rect">
            <a:avLst/>
          </a:prstGeom>
          <a:noFill/>
          <a:ln/>
        </p:spPr>
        <p:txBody>
          <a:bodyPr wrap="square" lIns="0" tIns="0" rIns="0" bIns="0" rtlCol="0" anchor="t"/>
          <a:lstStyle/>
          <a:p>
            <a:pPr marL="0" indent="0" algn="l">
              <a:lnSpc>
                <a:spcPts val="2900"/>
              </a:lnSpc>
              <a:buNone/>
            </a:pPr>
            <a:r>
              <a:rPr lang="en-US" sz="2300" b="1" dirty="0">
                <a:solidFill>
                  <a:srgbClr val="403C4E"/>
                </a:solidFill>
                <a:latin typeface="Merriweather Bold" pitchFamily="34" charset="0"/>
                <a:ea typeface="Merriweather Bold" pitchFamily="34" charset="-122"/>
                <a:cs typeface="Merriweather Bold" pitchFamily="34" charset="-120"/>
              </a:rPr>
              <a:t>Two Paths to Beautiful Design</a:t>
            </a:r>
            <a:endParaRPr lang="en-US" sz="2300" dirty="0"/>
          </a:p>
        </p:txBody>
      </p:sp>
      <p:sp>
        <p:nvSpPr>
          <p:cNvPr id="6" name="Text 3"/>
          <p:cNvSpPr/>
          <p:nvPr/>
        </p:nvSpPr>
        <p:spPr>
          <a:xfrm>
            <a:off x="9593818" y="3618548"/>
            <a:ext cx="4250293" cy="952619"/>
          </a:xfrm>
          <a:prstGeom prst="rect">
            <a:avLst/>
          </a:prstGeom>
          <a:noFill/>
          <a:ln/>
        </p:spPr>
        <p:txBody>
          <a:bodyPr wrap="square" lIns="0" tIns="0" rIns="0" bIns="0" rtlCol="0" anchor="t"/>
          <a:lstStyle/>
          <a:p>
            <a:pPr marL="0" indent="0" algn="l">
              <a:lnSpc>
                <a:spcPts val="2500"/>
              </a:lnSpc>
              <a:buNone/>
            </a:pPr>
            <a:r>
              <a:rPr lang="en-US" sz="1550" b="1" dirty="0">
                <a:solidFill>
                  <a:srgbClr val="403C4E"/>
                </a:solidFill>
                <a:latin typeface="Open Sans" pitchFamily="34" charset="0"/>
                <a:ea typeface="Open Sans" pitchFamily="34" charset="-122"/>
                <a:cs typeface="Open Sans" pitchFamily="34" charset="-120"/>
              </a:rPr>
              <a:t>Traditional CSS:</a:t>
            </a:r>
            <a:r>
              <a:rPr lang="en-US" sz="1550" dirty="0">
                <a:solidFill>
                  <a:srgbClr val="403C4E"/>
                </a:solidFill>
                <a:latin typeface="Open Sans" pitchFamily="34" charset="0"/>
                <a:ea typeface="Open Sans" pitchFamily="34" charset="-122"/>
                <a:cs typeface="Open Sans" pitchFamily="34" charset="-120"/>
              </a:rPr>
              <a:t> Write custom styles with full creative control. Perfect for unique designs but requires more time to master.</a:t>
            </a:r>
            <a:endParaRPr lang="en-US" sz="1550" dirty="0"/>
          </a:p>
        </p:txBody>
      </p:sp>
      <p:sp>
        <p:nvSpPr>
          <p:cNvPr id="7" name="Text 4"/>
          <p:cNvSpPr/>
          <p:nvPr/>
        </p:nvSpPr>
        <p:spPr>
          <a:xfrm>
            <a:off x="9593818" y="4749760"/>
            <a:ext cx="4250293" cy="952619"/>
          </a:xfrm>
          <a:prstGeom prst="rect">
            <a:avLst/>
          </a:prstGeom>
          <a:noFill/>
          <a:ln/>
        </p:spPr>
        <p:txBody>
          <a:bodyPr wrap="square" lIns="0" tIns="0" rIns="0" bIns="0" rtlCol="0" anchor="t"/>
          <a:lstStyle/>
          <a:p>
            <a:pPr marL="0" indent="0" algn="l">
              <a:lnSpc>
                <a:spcPts val="2500"/>
              </a:lnSpc>
              <a:buNone/>
            </a:pPr>
            <a:r>
              <a:rPr lang="en-US" sz="1550" b="1" dirty="0">
                <a:solidFill>
                  <a:srgbClr val="403C4E"/>
                </a:solidFill>
                <a:latin typeface="Open Sans" pitchFamily="34" charset="0"/>
                <a:ea typeface="Open Sans" pitchFamily="34" charset="-122"/>
                <a:cs typeface="Open Sans" pitchFamily="34" charset="-120"/>
              </a:rPr>
              <a:t>Tailwind CSS:</a:t>
            </a:r>
            <a:r>
              <a:rPr lang="en-US" sz="1550" dirty="0">
                <a:solidFill>
                  <a:srgbClr val="403C4E"/>
                </a:solidFill>
                <a:latin typeface="Open Sans" pitchFamily="34" charset="0"/>
                <a:ea typeface="Open Sans" pitchFamily="34" charset="-122"/>
                <a:cs typeface="Open Sans" pitchFamily="34" charset="-120"/>
              </a:rPr>
              <a:t> Use pre-built utility classes to style rapidly. Add classes directly to HTML for instant, professional results.</a:t>
            </a:r>
            <a:endParaRPr lang="en-US" sz="1550" dirty="0"/>
          </a:p>
        </p:txBody>
      </p:sp>
      <p:sp>
        <p:nvSpPr>
          <p:cNvPr id="8" name="Shape 5"/>
          <p:cNvSpPr/>
          <p:nvPr/>
        </p:nvSpPr>
        <p:spPr>
          <a:xfrm>
            <a:off x="9593818" y="5925622"/>
            <a:ext cx="4250293" cy="1478280"/>
          </a:xfrm>
          <a:prstGeom prst="roundRect">
            <a:avLst>
              <a:gd name="adj" fmla="val 5639"/>
            </a:avLst>
          </a:prstGeom>
          <a:solidFill>
            <a:srgbClr val="FFC4B3"/>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9792176" y="6228517"/>
            <a:ext cx="248007" cy="198358"/>
          </a:xfrm>
          <a:prstGeom prst="rect">
            <a:avLst/>
          </a:prstGeom>
        </p:spPr>
      </p:pic>
      <p:sp>
        <p:nvSpPr>
          <p:cNvPr id="10" name="Text 6"/>
          <p:cNvSpPr/>
          <p:nvPr/>
        </p:nvSpPr>
        <p:spPr>
          <a:xfrm>
            <a:off x="10238542" y="6173510"/>
            <a:ext cx="3407212"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Open Sans" pitchFamily="34" charset="0"/>
                <a:ea typeface="Open Sans" pitchFamily="34" charset="-122"/>
                <a:cs typeface="Open Sans" pitchFamily="34" charset="-120"/>
              </a:rPr>
              <a:t>For beginners, </a:t>
            </a:r>
            <a:r>
              <a:rPr lang="en-US" sz="1550" b="1" dirty="0">
                <a:solidFill>
                  <a:srgbClr val="000000"/>
                </a:solidFill>
                <a:latin typeface="Open Sans" pitchFamily="34" charset="0"/>
                <a:ea typeface="Open Sans" pitchFamily="34" charset="-122"/>
                <a:cs typeface="Open Sans" pitchFamily="34" charset="-120"/>
              </a:rPr>
              <a:t>start with Tailwind</a:t>
            </a:r>
            <a:r>
              <a:rPr lang="en-US" sz="1550" dirty="0">
                <a:solidFill>
                  <a:srgbClr val="000000"/>
                </a:solidFill>
                <a:latin typeface="Open Sans" pitchFamily="34" charset="0"/>
                <a:ea typeface="Open Sans" pitchFamily="34" charset="-122"/>
                <a:cs typeface="Open Sans" pitchFamily="34" charset="-120"/>
              </a:rPr>
              <a:t>. Write less code, build faster, look professional immediately.</a:t>
            </a:r>
            <a:endParaRPr lang="en-US" sz="15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Shape 0"/>
          <p:cNvSpPr/>
          <p:nvPr/>
        </p:nvSpPr>
        <p:spPr>
          <a:xfrm>
            <a:off x="605076" y="1141809"/>
            <a:ext cx="1189553" cy="261223"/>
          </a:xfrm>
          <a:prstGeom prst="roundRect">
            <a:avLst>
              <a:gd name="adj" fmla="val 19457"/>
            </a:avLst>
          </a:prstGeom>
          <a:solidFill>
            <a:srgbClr val="FFD8CC"/>
          </a:solidFill>
          <a:ln/>
        </p:spPr>
        <p:txBody>
          <a:bodyPr/>
          <a:lstStyle/>
          <a:p>
            <a:endParaRPr lang="en-US"/>
          </a:p>
        </p:txBody>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5801" y="1211937"/>
            <a:ext cx="120968" cy="120968"/>
          </a:xfrm>
          <a:prstGeom prst="rect">
            <a:avLst/>
          </a:prstGeom>
        </p:spPr>
      </p:pic>
      <p:sp>
        <p:nvSpPr>
          <p:cNvPr id="5" name="Text 1"/>
          <p:cNvSpPr/>
          <p:nvPr/>
        </p:nvSpPr>
        <p:spPr>
          <a:xfrm>
            <a:off x="877253" y="1187172"/>
            <a:ext cx="826651" cy="170497"/>
          </a:xfrm>
          <a:prstGeom prst="rect">
            <a:avLst/>
          </a:prstGeom>
          <a:noFill/>
          <a:ln/>
        </p:spPr>
        <p:txBody>
          <a:bodyPr wrap="none" lIns="0" tIns="0" rIns="0" bIns="0" rtlCol="0" anchor="t"/>
          <a:lstStyle/>
          <a:p>
            <a:pPr marL="0" indent="0" algn="l">
              <a:lnSpc>
                <a:spcPts val="1300"/>
              </a:lnSpc>
              <a:buNone/>
            </a:pPr>
            <a:r>
              <a:rPr lang="en-US" sz="950" dirty="0">
                <a:solidFill>
                  <a:srgbClr val="403C4E"/>
                </a:solidFill>
                <a:latin typeface="Open Sans" pitchFamily="34" charset="0"/>
                <a:ea typeface="Open Sans" pitchFamily="34" charset="-122"/>
                <a:cs typeface="Open Sans" pitchFamily="34" charset="-120"/>
              </a:rPr>
              <a:t>INTERACTIVITY</a:t>
            </a:r>
            <a:endParaRPr lang="en-US" sz="950" dirty="0"/>
          </a:p>
        </p:txBody>
      </p:sp>
      <p:sp>
        <p:nvSpPr>
          <p:cNvPr id="6" name="Text 2"/>
          <p:cNvSpPr/>
          <p:nvPr/>
        </p:nvSpPr>
        <p:spPr>
          <a:xfrm>
            <a:off x="605076" y="1449110"/>
            <a:ext cx="6757511" cy="472678"/>
          </a:xfrm>
          <a:prstGeom prst="rect">
            <a:avLst/>
          </a:prstGeom>
          <a:noFill/>
          <a:ln/>
        </p:spPr>
        <p:txBody>
          <a:bodyPr wrap="none" lIns="0" tIns="0" rIns="0" bIns="0" rtlCol="0" anchor="t"/>
          <a:lstStyle/>
          <a:p>
            <a:pPr marL="0" indent="0" algn="l">
              <a:lnSpc>
                <a:spcPts val="3700"/>
              </a:lnSpc>
              <a:buNone/>
            </a:pPr>
            <a:r>
              <a:rPr lang="en-US" sz="2950" b="1" dirty="0">
                <a:solidFill>
                  <a:srgbClr val="403C4E"/>
                </a:solidFill>
                <a:latin typeface="Merriweather Bold" pitchFamily="34" charset="0"/>
                <a:ea typeface="Merriweather Bold" pitchFamily="34" charset="-122"/>
                <a:cs typeface="Merriweather Bold" pitchFamily="34" charset="-120"/>
              </a:rPr>
              <a:t>JavaScript: Bringing Your Site to Life</a:t>
            </a:r>
            <a:endParaRPr lang="en-US" sz="2950" dirty="0"/>
          </a:p>
        </p:txBody>
      </p:sp>
      <p:sp>
        <p:nvSpPr>
          <p:cNvPr id="7" name="Text 3"/>
          <p:cNvSpPr/>
          <p:nvPr/>
        </p:nvSpPr>
        <p:spPr>
          <a:xfrm>
            <a:off x="605076" y="2094667"/>
            <a:ext cx="7933849" cy="639723"/>
          </a:xfrm>
          <a:prstGeom prst="rect">
            <a:avLst/>
          </a:prstGeom>
          <a:noFill/>
          <a:ln/>
        </p:spPr>
        <p:txBody>
          <a:bodyPr wrap="square" lIns="0" tIns="0" rIns="0" bIns="0" rtlCol="0" anchor="t"/>
          <a:lstStyle/>
          <a:p>
            <a:pPr marL="0" indent="0" algn="l">
              <a:lnSpc>
                <a:spcPts val="1650"/>
              </a:lnSpc>
              <a:buNone/>
            </a:pPr>
            <a:r>
              <a:rPr lang="en-US" sz="1150" dirty="0">
                <a:solidFill>
                  <a:srgbClr val="403C4E"/>
                </a:solidFill>
                <a:latin typeface="Open Sans" pitchFamily="34" charset="0"/>
                <a:ea typeface="Open Sans" pitchFamily="34" charset="-122"/>
                <a:cs typeface="Open Sans" pitchFamily="34" charset="-120"/>
              </a:rPr>
              <a:t>If your website were a car, JavaScript is the engine. It transforms static pages into interactive experiences that respond to users in real-time. Don't let the reputation intimidate you—start small, copy working examples, and gradually understand how each piece functions.</a:t>
            </a:r>
            <a:endParaRPr lang="en-US" sz="1150" dirty="0"/>
          </a:p>
        </p:txBody>
      </p:sp>
      <p:pic>
        <p:nvPicPr>
          <p:cNvPr id="8"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5076" y="2864048"/>
            <a:ext cx="378143" cy="378143"/>
          </a:xfrm>
          <a:prstGeom prst="rect">
            <a:avLst/>
          </a:prstGeom>
        </p:spPr>
      </p:pic>
      <p:sp>
        <p:nvSpPr>
          <p:cNvPr id="9" name="Text 4"/>
          <p:cNvSpPr/>
          <p:nvPr/>
        </p:nvSpPr>
        <p:spPr>
          <a:xfrm>
            <a:off x="605076" y="3386257"/>
            <a:ext cx="1968103" cy="236339"/>
          </a:xfrm>
          <a:prstGeom prst="rect">
            <a:avLst/>
          </a:prstGeom>
          <a:noFill/>
          <a:ln/>
        </p:spPr>
        <p:txBody>
          <a:bodyPr wrap="none" lIns="0" tIns="0" rIns="0" bIns="0" rtlCol="0" anchor="t"/>
          <a:lstStyle/>
          <a:p>
            <a:pPr marL="0" indent="0" algn="l">
              <a:lnSpc>
                <a:spcPts val="1850"/>
              </a:lnSpc>
              <a:buNone/>
            </a:pPr>
            <a:r>
              <a:rPr lang="en-US" sz="1450" b="1" dirty="0">
                <a:solidFill>
                  <a:srgbClr val="403C4E"/>
                </a:solidFill>
                <a:latin typeface="Merriweather Bold" pitchFamily="34" charset="0"/>
                <a:ea typeface="Merriweather Bold" pitchFamily="34" charset="-122"/>
                <a:cs typeface="Merriweather Bold" pitchFamily="34" charset="-120"/>
              </a:rPr>
              <a:t>React to User Actions</a:t>
            </a:r>
            <a:endParaRPr lang="en-US" sz="1450" dirty="0"/>
          </a:p>
        </p:txBody>
      </p:sp>
      <p:sp>
        <p:nvSpPr>
          <p:cNvPr id="10" name="Text 5"/>
          <p:cNvSpPr/>
          <p:nvPr/>
        </p:nvSpPr>
        <p:spPr>
          <a:xfrm>
            <a:off x="605076" y="3691771"/>
            <a:ext cx="7933849" cy="426482"/>
          </a:xfrm>
          <a:prstGeom prst="rect">
            <a:avLst/>
          </a:prstGeom>
          <a:noFill/>
          <a:ln/>
        </p:spPr>
        <p:txBody>
          <a:bodyPr wrap="square" lIns="0" tIns="0" rIns="0" bIns="0" rtlCol="0" anchor="t"/>
          <a:lstStyle/>
          <a:p>
            <a:pPr marL="0" indent="0" algn="l">
              <a:lnSpc>
                <a:spcPts val="1650"/>
              </a:lnSpc>
              <a:buNone/>
            </a:pPr>
            <a:r>
              <a:rPr lang="en-US" sz="1150" dirty="0">
                <a:solidFill>
                  <a:srgbClr val="403C4E"/>
                </a:solidFill>
                <a:latin typeface="Open Sans" pitchFamily="34" charset="0"/>
                <a:ea typeface="Open Sans" pitchFamily="34" charset="-122"/>
                <a:cs typeface="Open Sans" pitchFamily="34" charset="-120"/>
              </a:rPr>
              <a:t>Make elements change on clicks, hovers, and scrolls. Build like buttons, subscribe forms, and interactive menus that respond instantly.</a:t>
            </a:r>
            <a:endParaRPr lang="en-US" sz="1150" dirty="0"/>
          </a:p>
        </p:txBody>
      </p:sp>
      <p:pic>
        <p:nvPicPr>
          <p:cNvPr id="11"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5076" y="4348758"/>
            <a:ext cx="378143" cy="378143"/>
          </a:xfrm>
          <a:prstGeom prst="rect">
            <a:avLst/>
          </a:prstGeom>
        </p:spPr>
      </p:pic>
      <p:sp>
        <p:nvSpPr>
          <p:cNvPr id="12" name="Text 6"/>
          <p:cNvSpPr/>
          <p:nvPr/>
        </p:nvSpPr>
        <p:spPr>
          <a:xfrm>
            <a:off x="605076" y="4870966"/>
            <a:ext cx="1890832" cy="236339"/>
          </a:xfrm>
          <a:prstGeom prst="rect">
            <a:avLst/>
          </a:prstGeom>
          <a:noFill/>
          <a:ln/>
        </p:spPr>
        <p:txBody>
          <a:bodyPr wrap="none" lIns="0" tIns="0" rIns="0" bIns="0" rtlCol="0" anchor="t"/>
          <a:lstStyle/>
          <a:p>
            <a:pPr marL="0" indent="0" algn="l">
              <a:lnSpc>
                <a:spcPts val="1850"/>
              </a:lnSpc>
              <a:buNone/>
            </a:pPr>
            <a:r>
              <a:rPr lang="en-US" sz="1450" b="1" dirty="0">
                <a:solidFill>
                  <a:srgbClr val="403C4E"/>
                </a:solidFill>
                <a:latin typeface="Merriweather Bold" pitchFamily="34" charset="0"/>
                <a:ea typeface="Merriweather Bold" pitchFamily="34" charset="-122"/>
                <a:cs typeface="Merriweather Bold" pitchFamily="34" charset="-120"/>
              </a:rPr>
              <a:t>Listen and Validate</a:t>
            </a:r>
            <a:endParaRPr lang="en-US" sz="1450" dirty="0"/>
          </a:p>
        </p:txBody>
      </p:sp>
      <p:sp>
        <p:nvSpPr>
          <p:cNvPr id="13" name="Text 7"/>
          <p:cNvSpPr/>
          <p:nvPr/>
        </p:nvSpPr>
        <p:spPr>
          <a:xfrm>
            <a:off x="605076" y="5176480"/>
            <a:ext cx="7933849" cy="426482"/>
          </a:xfrm>
          <a:prstGeom prst="rect">
            <a:avLst/>
          </a:prstGeom>
          <a:noFill/>
          <a:ln/>
        </p:spPr>
        <p:txBody>
          <a:bodyPr wrap="square" lIns="0" tIns="0" rIns="0" bIns="0" rtlCol="0" anchor="t"/>
          <a:lstStyle/>
          <a:p>
            <a:pPr marL="0" indent="0" algn="l">
              <a:lnSpc>
                <a:spcPts val="1650"/>
              </a:lnSpc>
              <a:buNone/>
            </a:pPr>
            <a:r>
              <a:rPr lang="en-US" sz="1150" dirty="0">
                <a:solidFill>
                  <a:srgbClr val="403C4E"/>
                </a:solidFill>
                <a:latin typeface="Open Sans" pitchFamily="34" charset="0"/>
                <a:ea typeface="Open Sans" pitchFamily="34" charset="-122"/>
                <a:cs typeface="Open Sans" pitchFamily="34" charset="-120"/>
              </a:rPr>
              <a:t>Respond to user input with form validation, search filters, and real-time feedback. Ensure data is correct before submission.</a:t>
            </a:r>
            <a:endParaRPr lang="en-US" sz="1150" dirty="0"/>
          </a:p>
        </p:txBody>
      </p:sp>
      <p:pic>
        <p:nvPicPr>
          <p:cNvPr id="14"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5076" y="5833467"/>
            <a:ext cx="378143" cy="378143"/>
          </a:xfrm>
          <a:prstGeom prst="rect">
            <a:avLst/>
          </a:prstGeom>
        </p:spPr>
      </p:pic>
      <p:sp>
        <p:nvSpPr>
          <p:cNvPr id="15" name="Text 8"/>
          <p:cNvSpPr/>
          <p:nvPr/>
        </p:nvSpPr>
        <p:spPr>
          <a:xfrm>
            <a:off x="605076" y="6355675"/>
            <a:ext cx="1890832" cy="236339"/>
          </a:xfrm>
          <a:prstGeom prst="rect">
            <a:avLst/>
          </a:prstGeom>
          <a:noFill/>
          <a:ln/>
        </p:spPr>
        <p:txBody>
          <a:bodyPr wrap="none" lIns="0" tIns="0" rIns="0" bIns="0" rtlCol="0" anchor="t"/>
          <a:lstStyle/>
          <a:p>
            <a:pPr marL="0" indent="0" algn="l">
              <a:lnSpc>
                <a:spcPts val="1850"/>
              </a:lnSpc>
              <a:buNone/>
            </a:pPr>
            <a:r>
              <a:rPr lang="en-US" sz="1450" b="1" dirty="0">
                <a:solidFill>
                  <a:srgbClr val="403C4E"/>
                </a:solidFill>
                <a:latin typeface="Merriweather Bold" pitchFamily="34" charset="0"/>
                <a:ea typeface="Merriweather Bold" pitchFamily="34" charset="-122"/>
                <a:cs typeface="Merriweather Bold" pitchFamily="34" charset="-120"/>
              </a:rPr>
              <a:t>Connect and Fetch</a:t>
            </a:r>
            <a:endParaRPr lang="en-US" sz="1450" dirty="0"/>
          </a:p>
        </p:txBody>
      </p:sp>
      <p:sp>
        <p:nvSpPr>
          <p:cNvPr id="16" name="Text 9"/>
          <p:cNvSpPr/>
          <p:nvPr/>
        </p:nvSpPr>
        <p:spPr>
          <a:xfrm>
            <a:off x="605076" y="6661190"/>
            <a:ext cx="7933849" cy="426482"/>
          </a:xfrm>
          <a:prstGeom prst="rect">
            <a:avLst/>
          </a:prstGeom>
          <a:noFill/>
          <a:ln/>
        </p:spPr>
        <p:txBody>
          <a:bodyPr wrap="square" lIns="0" tIns="0" rIns="0" bIns="0" rtlCol="0" anchor="t"/>
          <a:lstStyle/>
          <a:p>
            <a:pPr marL="0" indent="0" algn="l">
              <a:lnSpc>
                <a:spcPts val="1650"/>
              </a:lnSpc>
              <a:buNone/>
            </a:pPr>
            <a:r>
              <a:rPr lang="en-US" sz="1150" dirty="0">
                <a:solidFill>
                  <a:srgbClr val="403C4E"/>
                </a:solidFill>
                <a:latin typeface="Open Sans" pitchFamily="34" charset="0"/>
                <a:ea typeface="Open Sans" pitchFamily="34" charset="-122"/>
                <a:cs typeface="Open Sans" pitchFamily="34" charset="-120"/>
              </a:rPr>
              <a:t>Talk to external services and APIs to display live data, weather updates, social feeds, or any dynamic content from the web.</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346603" y="897136"/>
            <a:ext cx="4882396" cy="393740"/>
          </a:xfrm>
          <a:prstGeom prst="rect">
            <a:avLst/>
          </a:prstGeom>
          <a:noFill/>
          <a:ln/>
        </p:spPr>
        <p:txBody>
          <a:bodyPr wrap="none" lIns="0" tIns="0" rIns="0" bIns="0" rtlCol="0" anchor="t"/>
          <a:lstStyle/>
          <a:p>
            <a:pPr marL="0" indent="0" algn="l">
              <a:lnSpc>
                <a:spcPts val="3100"/>
              </a:lnSpc>
              <a:buNone/>
            </a:pPr>
            <a:r>
              <a:rPr lang="en-US" sz="2450" b="1" dirty="0">
                <a:solidFill>
                  <a:srgbClr val="403C4E"/>
                </a:solidFill>
                <a:latin typeface="Merriweather Bold" pitchFamily="34" charset="0"/>
                <a:ea typeface="Merriweather Bold" pitchFamily="34" charset="-122"/>
                <a:cs typeface="Merriweather Bold" pitchFamily="34" charset="-120"/>
              </a:rPr>
              <a:t>Your Portfolio Project Blueprint</a:t>
            </a:r>
            <a:endParaRPr lang="en-US" sz="2450" dirty="0"/>
          </a:p>
        </p:txBody>
      </p:sp>
      <p:sp>
        <p:nvSpPr>
          <p:cNvPr id="3" name="Text 1"/>
          <p:cNvSpPr/>
          <p:nvPr/>
        </p:nvSpPr>
        <p:spPr>
          <a:xfrm>
            <a:off x="2346603" y="1450777"/>
            <a:ext cx="9937194" cy="329327"/>
          </a:xfrm>
          <a:prstGeom prst="rect">
            <a:avLst/>
          </a:prstGeom>
          <a:noFill/>
          <a:ln/>
        </p:spPr>
        <p:txBody>
          <a:bodyPr wrap="square" lIns="0" tIns="0" rIns="0" bIns="0" rtlCol="0" anchor="t"/>
          <a:lstStyle/>
          <a:p>
            <a:pPr marL="0" indent="0" algn="l">
              <a:lnSpc>
                <a:spcPts val="1250"/>
              </a:lnSpc>
              <a:buNone/>
            </a:pPr>
            <a:r>
              <a:rPr lang="en-US" sz="950" dirty="0">
                <a:solidFill>
                  <a:srgbClr val="403C4E"/>
                </a:solidFill>
                <a:latin typeface="Open Sans" pitchFamily="34" charset="0"/>
                <a:ea typeface="Open Sans" pitchFamily="34" charset="-122"/>
                <a:cs typeface="Open Sans" pitchFamily="34" charset="-120"/>
              </a:rPr>
              <a:t>Build one comprehensive project that showcases everything you've learned. A personal portfolio website is the perfect first project because it's immediately useful, demonstrates all three technologies, and becomes your professional calling card.</a:t>
            </a:r>
            <a:endParaRPr lang="en-US" sz="950" dirty="0"/>
          </a:p>
        </p:txBody>
      </p:sp>
      <p:pic>
        <p:nvPicPr>
          <p:cNvPr id="4" name="Image 0" descr="preencoded.png"/>
          <p:cNvPicPr>
            <a:picLocks noChangeAspect="1"/>
          </p:cNvPicPr>
          <p:nvPr/>
        </p:nvPicPr>
        <p:blipFill>
          <a:blip r:embed="rId3"/>
          <a:stretch>
            <a:fillRect/>
          </a:stretch>
        </p:blipFill>
        <p:spPr>
          <a:xfrm>
            <a:off x="2346603" y="3130272"/>
            <a:ext cx="6351508" cy="2743438"/>
          </a:xfrm>
          <a:prstGeom prst="rect">
            <a:avLst/>
          </a:prstGeom>
        </p:spPr>
      </p:pic>
      <p:sp>
        <p:nvSpPr>
          <p:cNvPr id="5" name="Text 2"/>
          <p:cNvSpPr/>
          <p:nvPr/>
        </p:nvSpPr>
        <p:spPr>
          <a:xfrm>
            <a:off x="3862272" y="5160835"/>
            <a:ext cx="943065" cy="171761"/>
          </a:xfrm>
          <a:prstGeom prst="rect">
            <a:avLst/>
          </a:prstGeom>
          <a:noFill/>
          <a:ln/>
        </p:spPr>
        <p:txBody>
          <a:bodyPr wrap="none" lIns="0" tIns="0" rIns="0" bIns="0" rtlCol="0" anchor="t"/>
          <a:lstStyle/>
          <a:p>
            <a:pPr marL="0" indent="0" algn="ctr">
              <a:lnSpc>
                <a:spcPts val="1650"/>
              </a:lnSpc>
              <a:buNone/>
            </a:pPr>
            <a:r>
              <a:rPr lang="en-US" sz="1350" b="1" dirty="0">
                <a:solidFill>
                  <a:srgbClr val="403C4E"/>
                </a:solidFill>
                <a:latin typeface="Merriweather Bold" pitchFamily="34" charset="0"/>
                <a:ea typeface="Merriweather Bold" pitchFamily="34" charset="-122"/>
                <a:cs typeface="Merriweather Bold" pitchFamily="34" charset="-120"/>
              </a:rPr>
              <a:t>About Me</a:t>
            </a:r>
            <a:endParaRPr lang="en-US" sz="1350" dirty="0"/>
          </a:p>
        </p:txBody>
      </p:sp>
      <p:sp>
        <p:nvSpPr>
          <p:cNvPr id="6" name="Text 3"/>
          <p:cNvSpPr/>
          <p:nvPr/>
        </p:nvSpPr>
        <p:spPr>
          <a:xfrm>
            <a:off x="3862272" y="5381452"/>
            <a:ext cx="943065" cy="224626"/>
          </a:xfrm>
          <a:prstGeom prst="rect">
            <a:avLst/>
          </a:prstGeom>
          <a:noFill/>
          <a:ln/>
        </p:spPr>
        <p:txBody>
          <a:bodyPr wrap="square" lIns="0" tIns="0" rIns="0" bIns="0" rtlCol="0" anchor="t"/>
          <a:lstStyle/>
          <a:p>
            <a:pPr marL="0" indent="0" algn="ctr">
              <a:lnSpc>
                <a:spcPts val="1100"/>
              </a:lnSpc>
              <a:buNone/>
            </a:pPr>
            <a:r>
              <a:rPr lang="en-US" sz="1050" dirty="0">
                <a:solidFill>
                  <a:srgbClr val="403C4E"/>
                </a:solidFill>
                <a:latin typeface="Open Sans" pitchFamily="34" charset="0"/>
                <a:ea typeface="Open Sans" pitchFamily="34" charset="-122"/>
                <a:cs typeface="Open Sans" pitchFamily="34" charset="-120"/>
              </a:rPr>
              <a:t>Summarize skills and background</a:t>
            </a:r>
            <a:endParaRPr lang="en-US" sz="1050" dirty="0"/>
          </a:p>
        </p:txBody>
      </p:sp>
      <p:sp>
        <p:nvSpPr>
          <p:cNvPr id="7" name="Text 4"/>
          <p:cNvSpPr/>
          <p:nvPr/>
        </p:nvSpPr>
        <p:spPr>
          <a:xfrm>
            <a:off x="6283820" y="5048522"/>
            <a:ext cx="943065" cy="171762"/>
          </a:xfrm>
          <a:prstGeom prst="rect">
            <a:avLst/>
          </a:prstGeom>
          <a:noFill/>
          <a:ln/>
        </p:spPr>
        <p:txBody>
          <a:bodyPr wrap="none" lIns="0" tIns="0" rIns="0" bIns="0" rtlCol="0" anchor="t"/>
          <a:lstStyle/>
          <a:p>
            <a:pPr marL="0" indent="0" algn="ctr">
              <a:lnSpc>
                <a:spcPts val="1650"/>
              </a:lnSpc>
              <a:buNone/>
            </a:pPr>
            <a:r>
              <a:rPr lang="en-US" sz="1350" b="1" dirty="0">
                <a:solidFill>
                  <a:srgbClr val="403C4E"/>
                </a:solidFill>
                <a:latin typeface="Merriweather Bold" pitchFamily="34" charset="0"/>
                <a:ea typeface="Merriweather Bold" pitchFamily="34" charset="-122"/>
                <a:cs typeface="Merriweather Bold" pitchFamily="34" charset="-120"/>
              </a:rPr>
              <a:t>Skills</a:t>
            </a:r>
            <a:endParaRPr lang="en-US" sz="1350" dirty="0"/>
          </a:p>
        </p:txBody>
      </p:sp>
      <p:sp>
        <p:nvSpPr>
          <p:cNvPr id="8" name="Text 5"/>
          <p:cNvSpPr/>
          <p:nvPr/>
        </p:nvSpPr>
        <p:spPr>
          <a:xfrm>
            <a:off x="6283820" y="5269140"/>
            <a:ext cx="943065" cy="336939"/>
          </a:xfrm>
          <a:prstGeom prst="rect">
            <a:avLst/>
          </a:prstGeom>
          <a:noFill/>
          <a:ln/>
        </p:spPr>
        <p:txBody>
          <a:bodyPr wrap="square" lIns="0" tIns="0" rIns="0" bIns="0" rtlCol="0" anchor="t"/>
          <a:lstStyle/>
          <a:p>
            <a:pPr marL="0" indent="0" algn="ctr">
              <a:lnSpc>
                <a:spcPts val="1100"/>
              </a:lnSpc>
              <a:buNone/>
            </a:pPr>
            <a:r>
              <a:rPr lang="en-US" sz="1050" dirty="0">
                <a:solidFill>
                  <a:srgbClr val="403C4E"/>
                </a:solidFill>
                <a:latin typeface="Open Sans" pitchFamily="34" charset="0"/>
                <a:ea typeface="Open Sans" pitchFamily="34" charset="-122"/>
                <a:cs typeface="Open Sans" pitchFamily="34" charset="-120"/>
              </a:rPr>
              <a:t>Highlight technologies and tools</a:t>
            </a:r>
            <a:endParaRPr lang="en-US" sz="1050" dirty="0"/>
          </a:p>
        </p:txBody>
      </p:sp>
      <p:sp>
        <p:nvSpPr>
          <p:cNvPr id="9" name="Text 6"/>
          <p:cNvSpPr/>
          <p:nvPr/>
        </p:nvSpPr>
        <p:spPr>
          <a:xfrm>
            <a:off x="2654504" y="3358773"/>
            <a:ext cx="943065" cy="171761"/>
          </a:xfrm>
          <a:prstGeom prst="rect">
            <a:avLst/>
          </a:prstGeom>
          <a:noFill/>
          <a:ln/>
        </p:spPr>
        <p:txBody>
          <a:bodyPr wrap="none" lIns="0" tIns="0" rIns="0" bIns="0" rtlCol="0" anchor="t"/>
          <a:lstStyle/>
          <a:p>
            <a:pPr marL="0" indent="0" algn="ctr">
              <a:lnSpc>
                <a:spcPts val="1650"/>
              </a:lnSpc>
              <a:buNone/>
            </a:pPr>
            <a:r>
              <a:rPr lang="en-US" sz="1350" b="1" dirty="0">
                <a:solidFill>
                  <a:srgbClr val="403C4E"/>
                </a:solidFill>
                <a:latin typeface="Merriweather Bold" pitchFamily="34" charset="0"/>
                <a:ea typeface="Merriweather Bold" pitchFamily="34" charset="-122"/>
                <a:cs typeface="Merriweather Bold" pitchFamily="34" charset="-120"/>
              </a:rPr>
              <a:t>Hero</a:t>
            </a:r>
            <a:endParaRPr lang="en-US" sz="1350" dirty="0"/>
          </a:p>
        </p:txBody>
      </p:sp>
      <p:sp>
        <p:nvSpPr>
          <p:cNvPr id="10" name="Text 7"/>
          <p:cNvSpPr/>
          <p:nvPr/>
        </p:nvSpPr>
        <p:spPr>
          <a:xfrm>
            <a:off x="2654504" y="3579390"/>
            <a:ext cx="943065" cy="224626"/>
          </a:xfrm>
          <a:prstGeom prst="rect">
            <a:avLst/>
          </a:prstGeom>
          <a:noFill/>
          <a:ln/>
        </p:spPr>
        <p:txBody>
          <a:bodyPr wrap="square" lIns="0" tIns="0" rIns="0" bIns="0" rtlCol="0" anchor="t"/>
          <a:lstStyle/>
          <a:p>
            <a:pPr marL="0" indent="0" algn="ctr">
              <a:lnSpc>
                <a:spcPts val="1100"/>
              </a:lnSpc>
              <a:buNone/>
            </a:pPr>
            <a:r>
              <a:rPr lang="en-US" sz="1050" dirty="0">
                <a:solidFill>
                  <a:srgbClr val="403C4E"/>
                </a:solidFill>
                <a:latin typeface="Open Sans" pitchFamily="34" charset="0"/>
                <a:ea typeface="Open Sans" pitchFamily="34" charset="-122"/>
                <a:cs typeface="Open Sans" pitchFamily="34" charset="-120"/>
              </a:rPr>
              <a:t>Introduce yourself and value</a:t>
            </a:r>
            <a:endParaRPr lang="en-US" sz="1050" dirty="0"/>
          </a:p>
        </p:txBody>
      </p:sp>
      <p:sp>
        <p:nvSpPr>
          <p:cNvPr id="11" name="Text 8"/>
          <p:cNvSpPr/>
          <p:nvPr/>
        </p:nvSpPr>
        <p:spPr>
          <a:xfrm>
            <a:off x="7455613" y="3358773"/>
            <a:ext cx="943065" cy="171761"/>
          </a:xfrm>
          <a:prstGeom prst="rect">
            <a:avLst/>
          </a:prstGeom>
          <a:noFill/>
          <a:ln/>
        </p:spPr>
        <p:txBody>
          <a:bodyPr wrap="none" lIns="0" tIns="0" rIns="0" bIns="0" rtlCol="0" anchor="t"/>
          <a:lstStyle/>
          <a:p>
            <a:pPr marL="0" indent="0" algn="ctr">
              <a:lnSpc>
                <a:spcPts val="1650"/>
              </a:lnSpc>
              <a:buNone/>
            </a:pPr>
            <a:r>
              <a:rPr lang="en-US" sz="1350" b="1" dirty="0">
                <a:solidFill>
                  <a:srgbClr val="403C4E"/>
                </a:solidFill>
                <a:latin typeface="Merriweather Bold" pitchFamily="34" charset="0"/>
                <a:ea typeface="Merriweather Bold" pitchFamily="34" charset="-122"/>
                <a:cs typeface="Merriweather Bold" pitchFamily="34" charset="-120"/>
              </a:rPr>
              <a:t>Contact</a:t>
            </a:r>
            <a:endParaRPr lang="en-US" sz="1350" dirty="0"/>
          </a:p>
        </p:txBody>
      </p:sp>
      <p:sp>
        <p:nvSpPr>
          <p:cNvPr id="12" name="Text 9"/>
          <p:cNvSpPr/>
          <p:nvPr/>
        </p:nvSpPr>
        <p:spPr>
          <a:xfrm>
            <a:off x="7455613" y="3579390"/>
            <a:ext cx="943065" cy="224626"/>
          </a:xfrm>
          <a:prstGeom prst="rect">
            <a:avLst/>
          </a:prstGeom>
          <a:noFill/>
          <a:ln/>
        </p:spPr>
        <p:txBody>
          <a:bodyPr wrap="square" lIns="0" tIns="0" rIns="0" bIns="0" rtlCol="0" anchor="t"/>
          <a:lstStyle/>
          <a:p>
            <a:pPr marL="0" indent="0" algn="ctr">
              <a:lnSpc>
                <a:spcPts val="1100"/>
              </a:lnSpc>
              <a:buNone/>
            </a:pPr>
            <a:r>
              <a:rPr lang="en-US" sz="1050" dirty="0">
                <a:solidFill>
                  <a:srgbClr val="403C4E"/>
                </a:solidFill>
                <a:latin typeface="Open Sans" pitchFamily="34" charset="0"/>
                <a:ea typeface="Open Sans" pitchFamily="34" charset="-122"/>
                <a:cs typeface="Open Sans" pitchFamily="34" charset="-120"/>
              </a:rPr>
              <a:t>Provide form and connection details</a:t>
            </a:r>
            <a:endParaRPr lang="en-US" sz="1050" dirty="0"/>
          </a:p>
        </p:txBody>
      </p:sp>
      <p:sp>
        <p:nvSpPr>
          <p:cNvPr id="13" name="Text 10"/>
          <p:cNvSpPr/>
          <p:nvPr/>
        </p:nvSpPr>
        <p:spPr>
          <a:xfrm>
            <a:off x="5088075" y="3358773"/>
            <a:ext cx="943065" cy="171761"/>
          </a:xfrm>
          <a:prstGeom prst="rect">
            <a:avLst/>
          </a:prstGeom>
          <a:noFill/>
          <a:ln/>
        </p:spPr>
        <p:txBody>
          <a:bodyPr wrap="none" lIns="0" tIns="0" rIns="0" bIns="0" rtlCol="0" anchor="t"/>
          <a:lstStyle/>
          <a:p>
            <a:pPr marL="0" indent="0" algn="ctr">
              <a:lnSpc>
                <a:spcPts val="1650"/>
              </a:lnSpc>
              <a:buNone/>
            </a:pPr>
            <a:r>
              <a:rPr lang="en-US" sz="1350" b="1" dirty="0">
                <a:solidFill>
                  <a:srgbClr val="403C4E"/>
                </a:solidFill>
                <a:latin typeface="Merriweather Bold" pitchFamily="34" charset="0"/>
                <a:ea typeface="Merriweather Bold" pitchFamily="34" charset="-122"/>
                <a:cs typeface="Merriweather Bold" pitchFamily="34" charset="-120"/>
              </a:rPr>
              <a:t>Projects</a:t>
            </a:r>
            <a:endParaRPr lang="en-US" sz="1350" dirty="0"/>
          </a:p>
        </p:txBody>
      </p:sp>
      <p:sp>
        <p:nvSpPr>
          <p:cNvPr id="14" name="Text 11"/>
          <p:cNvSpPr/>
          <p:nvPr/>
        </p:nvSpPr>
        <p:spPr>
          <a:xfrm>
            <a:off x="5088075" y="3579390"/>
            <a:ext cx="943065" cy="224626"/>
          </a:xfrm>
          <a:prstGeom prst="rect">
            <a:avLst/>
          </a:prstGeom>
          <a:noFill/>
          <a:ln/>
        </p:spPr>
        <p:txBody>
          <a:bodyPr wrap="square" lIns="0" tIns="0" rIns="0" bIns="0" rtlCol="0" anchor="t"/>
          <a:lstStyle/>
          <a:p>
            <a:pPr marL="0" indent="0" algn="ctr">
              <a:lnSpc>
                <a:spcPts val="1100"/>
              </a:lnSpc>
              <a:buNone/>
            </a:pPr>
            <a:r>
              <a:rPr lang="en-US" sz="1050" dirty="0">
                <a:solidFill>
                  <a:srgbClr val="403C4E"/>
                </a:solidFill>
                <a:latin typeface="Open Sans" pitchFamily="34" charset="0"/>
                <a:ea typeface="Open Sans" pitchFamily="34" charset="-122"/>
                <a:cs typeface="Open Sans" pitchFamily="34" charset="-120"/>
              </a:rPr>
              <a:t>Showcase key work and demos</a:t>
            </a:r>
            <a:endParaRPr lang="en-US" sz="1050" dirty="0"/>
          </a:p>
        </p:txBody>
      </p:sp>
      <p:sp>
        <p:nvSpPr>
          <p:cNvPr id="15" name="Text 12"/>
          <p:cNvSpPr/>
          <p:nvPr/>
        </p:nvSpPr>
        <p:spPr>
          <a:xfrm>
            <a:off x="2346603" y="5944553"/>
            <a:ext cx="6351508" cy="164663"/>
          </a:xfrm>
          <a:prstGeom prst="rect">
            <a:avLst/>
          </a:prstGeom>
          <a:noFill/>
          <a:ln/>
        </p:spPr>
        <p:txBody>
          <a:bodyPr wrap="none" lIns="0" tIns="0" rIns="0" bIns="0" rtlCol="0" anchor="t"/>
          <a:lstStyle/>
          <a:p>
            <a:pPr marL="0" indent="0" algn="l">
              <a:lnSpc>
                <a:spcPts val="1250"/>
              </a:lnSpc>
              <a:buNone/>
            </a:pPr>
            <a:r>
              <a:rPr lang="en-US" sz="950" dirty="0">
                <a:solidFill>
                  <a:srgbClr val="403C4E"/>
                </a:solidFill>
                <a:latin typeface="Open Sans" pitchFamily="34" charset="0"/>
                <a:ea typeface="Open Sans" pitchFamily="34" charset="-122"/>
                <a:cs typeface="Open Sans" pitchFamily="34" charset="-120"/>
              </a:rPr>
              <a:t>This modular approach lets you build and polish one section at a time, celebrating small wins along the way.</a:t>
            </a:r>
            <a:endParaRPr lang="en-US" sz="950" dirty="0"/>
          </a:p>
        </p:txBody>
      </p:sp>
      <p:sp>
        <p:nvSpPr>
          <p:cNvPr id="16" name="Text 13"/>
          <p:cNvSpPr/>
          <p:nvPr/>
        </p:nvSpPr>
        <p:spPr>
          <a:xfrm>
            <a:off x="9013150" y="1959888"/>
            <a:ext cx="125968" cy="157401"/>
          </a:xfrm>
          <a:prstGeom prst="rect">
            <a:avLst/>
          </a:prstGeom>
          <a:noFill/>
          <a:ln/>
        </p:spPr>
        <p:txBody>
          <a:bodyPr wrap="none" lIns="0" tIns="0" rIns="0" bIns="0" rtlCol="0" anchor="t"/>
          <a:lstStyle/>
          <a:p>
            <a:pPr marL="0" indent="0" algn="l">
              <a:lnSpc>
                <a:spcPts val="1250"/>
              </a:lnSpc>
              <a:buNone/>
            </a:pPr>
            <a:r>
              <a:rPr lang="en-US" sz="950" dirty="0">
                <a:solidFill>
                  <a:srgbClr val="403C4E"/>
                </a:solidFill>
                <a:latin typeface="Merriweather Light" pitchFamily="34" charset="0"/>
                <a:ea typeface="Merriweather Light" pitchFamily="34" charset="-122"/>
                <a:cs typeface="Merriweather Light" pitchFamily="34" charset="-120"/>
              </a:rPr>
              <a:t>01</a:t>
            </a:r>
            <a:endParaRPr lang="en-US" sz="950" dirty="0"/>
          </a:p>
        </p:txBody>
      </p:sp>
      <p:sp>
        <p:nvSpPr>
          <p:cNvPr id="17" name="Shape 14"/>
          <p:cNvSpPr/>
          <p:nvPr/>
        </p:nvSpPr>
        <p:spPr>
          <a:xfrm>
            <a:off x="9013150" y="2158603"/>
            <a:ext cx="3278148" cy="15240"/>
          </a:xfrm>
          <a:prstGeom prst="rect">
            <a:avLst/>
          </a:prstGeom>
          <a:solidFill>
            <a:srgbClr val="FFAD94"/>
          </a:solidFill>
          <a:ln/>
        </p:spPr>
        <p:txBody>
          <a:bodyPr/>
          <a:lstStyle/>
          <a:p>
            <a:endParaRPr lang="en-US"/>
          </a:p>
        </p:txBody>
      </p:sp>
      <p:sp>
        <p:nvSpPr>
          <p:cNvPr id="18" name="Text 15"/>
          <p:cNvSpPr/>
          <p:nvPr/>
        </p:nvSpPr>
        <p:spPr>
          <a:xfrm>
            <a:off x="9013150" y="2252067"/>
            <a:ext cx="1575078" cy="196810"/>
          </a:xfrm>
          <a:prstGeom prst="rect">
            <a:avLst/>
          </a:prstGeom>
          <a:noFill/>
          <a:ln/>
        </p:spPr>
        <p:txBody>
          <a:bodyPr wrap="none" lIns="0" tIns="0" rIns="0" bIns="0" rtlCol="0" anchor="t"/>
          <a:lstStyle/>
          <a:p>
            <a:pPr marL="0" indent="0" algn="l">
              <a:lnSpc>
                <a:spcPts val="1550"/>
              </a:lnSpc>
              <a:buNone/>
            </a:pPr>
            <a:r>
              <a:rPr lang="en-US" sz="1200" b="1" dirty="0">
                <a:solidFill>
                  <a:srgbClr val="403C4E"/>
                </a:solidFill>
                <a:latin typeface="Merriweather Bold" pitchFamily="34" charset="0"/>
                <a:ea typeface="Merriweather Bold" pitchFamily="34" charset="-122"/>
                <a:cs typeface="Merriweather Bold" pitchFamily="34" charset="-120"/>
              </a:rPr>
              <a:t>Hero Section</a:t>
            </a:r>
            <a:endParaRPr lang="en-US" sz="1200" dirty="0"/>
          </a:p>
        </p:txBody>
      </p:sp>
      <p:sp>
        <p:nvSpPr>
          <p:cNvPr id="19" name="Text 16"/>
          <p:cNvSpPr/>
          <p:nvPr/>
        </p:nvSpPr>
        <p:spPr>
          <a:xfrm>
            <a:off x="9013150" y="2528768"/>
            <a:ext cx="3278148" cy="329327"/>
          </a:xfrm>
          <a:prstGeom prst="rect">
            <a:avLst/>
          </a:prstGeom>
          <a:noFill/>
          <a:ln/>
        </p:spPr>
        <p:txBody>
          <a:bodyPr wrap="square" lIns="0" tIns="0" rIns="0" bIns="0" rtlCol="0" anchor="t"/>
          <a:lstStyle/>
          <a:p>
            <a:pPr marL="0" indent="0" algn="l">
              <a:lnSpc>
                <a:spcPts val="1250"/>
              </a:lnSpc>
              <a:buNone/>
            </a:pPr>
            <a:r>
              <a:rPr lang="en-US" sz="950" dirty="0">
                <a:solidFill>
                  <a:srgbClr val="403C4E"/>
                </a:solidFill>
                <a:latin typeface="Open Sans" pitchFamily="34" charset="0"/>
                <a:ea typeface="Open Sans" pitchFamily="34" charset="-122"/>
                <a:cs typeface="Open Sans" pitchFamily="34" charset="-120"/>
              </a:rPr>
              <a:t>Your name, compelling tagline, and professional photo that captures attention</a:t>
            </a:r>
            <a:endParaRPr lang="en-US" sz="950" dirty="0"/>
          </a:p>
        </p:txBody>
      </p:sp>
      <p:sp>
        <p:nvSpPr>
          <p:cNvPr id="20" name="Text 17"/>
          <p:cNvSpPr/>
          <p:nvPr/>
        </p:nvSpPr>
        <p:spPr>
          <a:xfrm>
            <a:off x="9013150" y="3032403"/>
            <a:ext cx="125968" cy="157401"/>
          </a:xfrm>
          <a:prstGeom prst="rect">
            <a:avLst/>
          </a:prstGeom>
          <a:noFill/>
          <a:ln/>
        </p:spPr>
        <p:txBody>
          <a:bodyPr wrap="none" lIns="0" tIns="0" rIns="0" bIns="0" rtlCol="0" anchor="t"/>
          <a:lstStyle/>
          <a:p>
            <a:pPr marL="0" indent="0" algn="l">
              <a:lnSpc>
                <a:spcPts val="1250"/>
              </a:lnSpc>
              <a:buNone/>
            </a:pPr>
            <a:r>
              <a:rPr lang="en-US" sz="950" dirty="0">
                <a:solidFill>
                  <a:srgbClr val="403C4E"/>
                </a:solidFill>
                <a:latin typeface="Merriweather Light" pitchFamily="34" charset="0"/>
                <a:ea typeface="Merriweather Light" pitchFamily="34" charset="-122"/>
                <a:cs typeface="Merriweather Light" pitchFamily="34" charset="-120"/>
              </a:rPr>
              <a:t>02</a:t>
            </a:r>
            <a:endParaRPr lang="en-US" sz="950" dirty="0"/>
          </a:p>
        </p:txBody>
      </p:sp>
      <p:sp>
        <p:nvSpPr>
          <p:cNvPr id="21" name="Shape 18"/>
          <p:cNvSpPr/>
          <p:nvPr/>
        </p:nvSpPr>
        <p:spPr>
          <a:xfrm>
            <a:off x="9013150" y="3231118"/>
            <a:ext cx="3278148" cy="15240"/>
          </a:xfrm>
          <a:prstGeom prst="rect">
            <a:avLst/>
          </a:prstGeom>
          <a:solidFill>
            <a:srgbClr val="FFAD94"/>
          </a:solidFill>
          <a:ln/>
        </p:spPr>
        <p:txBody>
          <a:bodyPr/>
          <a:lstStyle/>
          <a:p>
            <a:endParaRPr lang="en-US"/>
          </a:p>
        </p:txBody>
      </p:sp>
      <p:sp>
        <p:nvSpPr>
          <p:cNvPr id="22" name="Text 19"/>
          <p:cNvSpPr/>
          <p:nvPr/>
        </p:nvSpPr>
        <p:spPr>
          <a:xfrm>
            <a:off x="9013150" y="3324582"/>
            <a:ext cx="1575078" cy="196810"/>
          </a:xfrm>
          <a:prstGeom prst="rect">
            <a:avLst/>
          </a:prstGeom>
          <a:noFill/>
          <a:ln/>
        </p:spPr>
        <p:txBody>
          <a:bodyPr wrap="none" lIns="0" tIns="0" rIns="0" bIns="0" rtlCol="0" anchor="t"/>
          <a:lstStyle/>
          <a:p>
            <a:pPr marL="0" indent="0" algn="l">
              <a:lnSpc>
                <a:spcPts val="1550"/>
              </a:lnSpc>
              <a:buNone/>
            </a:pPr>
            <a:r>
              <a:rPr lang="en-US" sz="1200" b="1" dirty="0">
                <a:solidFill>
                  <a:srgbClr val="403C4E"/>
                </a:solidFill>
                <a:latin typeface="Merriweather Bold" pitchFamily="34" charset="0"/>
                <a:ea typeface="Merriweather Bold" pitchFamily="34" charset="-122"/>
                <a:cs typeface="Merriweather Bold" pitchFamily="34" charset="-120"/>
              </a:rPr>
              <a:t>About Me</a:t>
            </a:r>
            <a:endParaRPr lang="en-US" sz="1200" dirty="0"/>
          </a:p>
        </p:txBody>
      </p:sp>
      <p:sp>
        <p:nvSpPr>
          <p:cNvPr id="23" name="Text 20"/>
          <p:cNvSpPr/>
          <p:nvPr/>
        </p:nvSpPr>
        <p:spPr>
          <a:xfrm>
            <a:off x="9013150" y="3601283"/>
            <a:ext cx="3278148" cy="329327"/>
          </a:xfrm>
          <a:prstGeom prst="rect">
            <a:avLst/>
          </a:prstGeom>
          <a:noFill/>
          <a:ln/>
        </p:spPr>
        <p:txBody>
          <a:bodyPr wrap="square" lIns="0" tIns="0" rIns="0" bIns="0" rtlCol="0" anchor="t"/>
          <a:lstStyle/>
          <a:p>
            <a:pPr marL="0" indent="0" algn="l">
              <a:lnSpc>
                <a:spcPts val="1250"/>
              </a:lnSpc>
              <a:buNone/>
            </a:pPr>
            <a:r>
              <a:rPr lang="en-US" sz="950" dirty="0">
                <a:solidFill>
                  <a:srgbClr val="403C4E"/>
                </a:solidFill>
                <a:latin typeface="Open Sans" pitchFamily="34" charset="0"/>
                <a:ea typeface="Open Sans" pitchFamily="34" charset="-122"/>
                <a:cs typeface="Open Sans" pitchFamily="34" charset="-120"/>
              </a:rPr>
              <a:t>Your unique story, passions, and the value you bring to potential collaborators</a:t>
            </a:r>
            <a:endParaRPr lang="en-US" sz="950" dirty="0"/>
          </a:p>
        </p:txBody>
      </p:sp>
      <p:sp>
        <p:nvSpPr>
          <p:cNvPr id="24" name="Text 21"/>
          <p:cNvSpPr/>
          <p:nvPr/>
        </p:nvSpPr>
        <p:spPr>
          <a:xfrm>
            <a:off x="9013150" y="4104918"/>
            <a:ext cx="125968" cy="157401"/>
          </a:xfrm>
          <a:prstGeom prst="rect">
            <a:avLst/>
          </a:prstGeom>
          <a:noFill/>
          <a:ln/>
        </p:spPr>
        <p:txBody>
          <a:bodyPr wrap="none" lIns="0" tIns="0" rIns="0" bIns="0" rtlCol="0" anchor="t"/>
          <a:lstStyle/>
          <a:p>
            <a:pPr marL="0" indent="0" algn="l">
              <a:lnSpc>
                <a:spcPts val="1250"/>
              </a:lnSpc>
              <a:buNone/>
            </a:pPr>
            <a:r>
              <a:rPr lang="en-US" sz="950" dirty="0">
                <a:solidFill>
                  <a:srgbClr val="403C4E"/>
                </a:solidFill>
                <a:latin typeface="Merriweather Light" pitchFamily="34" charset="0"/>
                <a:ea typeface="Merriweather Light" pitchFamily="34" charset="-122"/>
                <a:cs typeface="Merriweather Light" pitchFamily="34" charset="-120"/>
              </a:rPr>
              <a:t>03</a:t>
            </a:r>
            <a:endParaRPr lang="en-US" sz="950" dirty="0"/>
          </a:p>
        </p:txBody>
      </p:sp>
      <p:sp>
        <p:nvSpPr>
          <p:cNvPr id="25" name="Shape 22"/>
          <p:cNvSpPr/>
          <p:nvPr/>
        </p:nvSpPr>
        <p:spPr>
          <a:xfrm>
            <a:off x="9013150" y="4303633"/>
            <a:ext cx="3278148" cy="15240"/>
          </a:xfrm>
          <a:prstGeom prst="rect">
            <a:avLst/>
          </a:prstGeom>
          <a:solidFill>
            <a:srgbClr val="FFAD94"/>
          </a:solidFill>
          <a:ln/>
        </p:spPr>
        <p:txBody>
          <a:bodyPr/>
          <a:lstStyle/>
          <a:p>
            <a:endParaRPr lang="en-US"/>
          </a:p>
        </p:txBody>
      </p:sp>
      <p:sp>
        <p:nvSpPr>
          <p:cNvPr id="26" name="Text 23"/>
          <p:cNvSpPr/>
          <p:nvPr/>
        </p:nvSpPr>
        <p:spPr>
          <a:xfrm>
            <a:off x="9013150" y="4397097"/>
            <a:ext cx="1575078" cy="196810"/>
          </a:xfrm>
          <a:prstGeom prst="rect">
            <a:avLst/>
          </a:prstGeom>
          <a:noFill/>
          <a:ln/>
        </p:spPr>
        <p:txBody>
          <a:bodyPr wrap="none" lIns="0" tIns="0" rIns="0" bIns="0" rtlCol="0" anchor="t"/>
          <a:lstStyle/>
          <a:p>
            <a:pPr marL="0" indent="0" algn="l">
              <a:lnSpc>
                <a:spcPts val="1550"/>
              </a:lnSpc>
              <a:buNone/>
            </a:pPr>
            <a:r>
              <a:rPr lang="en-US" sz="1200" b="1" dirty="0">
                <a:solidFill>
                  <a:srgbClr val="403C4E"/>
                </a:solidFill>
                <a:latin typeface="Merriweather Bold" pitchFamily="34" charset="0"/>
                <a:ea typeface="Merriweather Bold" pitchFamily="34" charset="-122"/>
                <a:cs typeface="Merriweather Bold" pitchFamily="34" charset="-120"/>
              </a:rPr>
              <a:t>Projects Gallery</a:t>
            </a:r>
            <a:endParaRPr lang="en-US" sz="1200" dirty="0"/>
          </a:p>
        </p:txBody>
      </p:sp>
      <p:sp>
        <p:nvSpPr>
          <p:cNvPr id="27" name="Text 24"/>
          <p:cNvSpPr/>
          <p:nvPr/>
        </p:nvSpPr>
        <p:spPr>
          <a:xfrm>
            <a:off x="9013150" y="4673798"/>
            <a:ext cx="3278148" cy="329327"/>
          </a:xfrm>
          <a:prstGeom prst="rect">
            <a:avLst/>
          </a:prstGeom>
          <a:noFill/>
          <a:ln/>
        </p:spPr>
        <p:txBody>
          <a:bodyPr wrap="square" lIns="0" tIns="0" rIns="0" bIns="0" rtlCol="0" anchor="t"/>
          <a:lstStyle/>
          <a:p>
            <a:pPr marL="0" indent="0" algn="l">
              <a:lnSpc>
                <a:spcPts val="1250"/>
              </a:lnSpc>
              <a:buNone/>
            </a:pPr>
            <a:r>
              <a:rPr lang="en-US" sz="950" dirty="0">
                <a:solidFill>
                  <a:srgbClr val="403C4E"/>
                </a:solidFill>
                <a:latin typeface="Open Sans" pitchFamily="34" charset="0"/>
                <a:ea typeface="Open Sans" pitchFamily="34" charset="-122"/>
                <a:cs typeface="Open Sans" pitchFamily="34" charset="-120"/>
              </a:rPr>
              <a:t>Showcase 3 projects with titles, descriptions, and eye-catching images</a:t>
            </a:r>
            <a:endParaRPr lang="en-US" sz="950" dirty="0"/>
          </a:p>
        </p:txBody>
      </p:sp>
      <p:sp>
        <p:nvSpPr>
          <p:cNvPr id="28" name="Text 25"/>
          <p:cNvSpPr/>
          <p:nvPr/>
        </p:nvSpPr>
        <p:spPr>
          <a:xfrm>
            <a:off x="9013150" y="5177433"/>
            <a:ext cx="125968" cy="157401"/>
          </a:xfrm>
          <a:prstGeom prst="rect">
            <a:avLst/>
          </a:prstGeom>
          <a:noFill/>
          <a:ln/>
        </p:spPr>
        <p:txBody>
          <a:bodyPr wrap="none" lIns="0" tIns="0" rIns="0" bIns="0" rtlCol="0" anchor="t"/>
          <a:lstStyle/>
          <a:p>
            <a:pPr marL="0" indent="0" algn="l">
              <a:lnSpc>
                <a:spcPts val="1250"/>
              </a:lnSpc>
              <a:buNone/>
            </a:pPr>
            <a:r>
              <a:rPr lang="en-US" sz="950" dirty="0">
                <a:solidFill>
                  <a:srgbClr val="403C4E"/>
                </a:solidFill>
                <a:latin typeface="Merriweather Light" pitchFamily="34" charset="0"/>
                <a:ea typeface="Merriweather Light" pitchFamily="34" charset="-122"/>
                <a:cs typeface="Merriweather Light" pitchFamily="34" charset="-120"/>
              </a:rPr>
              <a:t>04</a:t>
            </a:r>
            <a:endParaRPr lang="en-US" sz="950" dirty="0"/>
          </a:p>
        </p:txBody>
      </p:sp>
      <p:sp>
        <p:nvSpPr>
          <p:cNvPr id="29" name="Shape 26"/>
          <p:cNvSpPr/>
          <p:nvPr/>
        </p:nvSpPr>
        <p:spPr>
          <a:xfrm>
            <a:off x="9013150" y="5376148"/>
            <a:ext cx="3278148" cy="15240"/>
          </a:xfrm>
          <a:prstGeom prst="rect">
            <a:avLst/>
          </a:prstGeom>
          <a:solidFill>
            <a:srgbClr val="FFAD94"/>
          </a:solidFill>
          <a:ln/>
        </p:spPr>
        <p:txBody>
          <a:bodyPr/>
          <a:lstStyle/>
          <a:p>
            <a:endParaRPr lang="en-US"/>
          </a:p>
        </p:txBody>
      </p:sp>
      <p:sp>
        <p:nvSpPr>
          <p:cNvPr id="30" name="Text 27"/>
          <p:cNvSpPr/>
          <p:nvPr/>
        </p:nvSpPr>
        <p:spPr>
          <a:xfrm>
            <a:off x="9013150" y="5469612"/>
            <a:ext cx="1575078" cy="196810"/>
          </a:xfrm>
          <a:prstGeom prst="rect">
            <a:avLst/>
          </a:prstGeom>
          <a:noFill/>
          <a:ln/>
        </p:spPr>
        <p:txBody>
          <a:bodyPr wrap="none" lIns="0" tIns="0" rIns="0" bIns="0" rtlCol="0" anchor="t"/>
          <a:lstStyle/>
          <a:p>
            <a:pPr marL="0" indent="0" algn="l">
              <a:lnSpc>
                <a:spcPts val="1550"/>
              </a:lnSpc>
              <a:buNone/>
            </a:pPr>
            <a:r>
              <a:rPr lang="en-US" sz="1200" b="1" dirty="0">
                <a:solidFill>
                  <a:srgbClr val="403C4E"/>
                </a:solidFill>
                <a:latin typeface="Merriweather Bold" pitchFamily="34" charset="0"/>
                <a:ea typeface="Merriweather Bold" pitchFamily="34" charset="-122"/>
                <a:cs typeface="Merriweather Bold" pitchFamily="34" charset="-120"/>
              </a:rPr>
              <a:t>Skills Showcase</a:t>
            </a:r>
            <a:endParaRPr lang="en-US" sz="1200" dirty="0"/>
          </a:p>
        </p:txBody>
      </p:sp>
      <p:sp>
        <p:nvSpPr>
          <p:cNvPr id="31" name="Text 28"/>
          <p:cNvSpPr/>
          <p:nvPr/>
        </p:nvSpPr>
        <p:spPr>
          <a:xfrm>
            <a:off x="9013150" y="5746313"/>
            <a:ext cx="3278148" cy="329327"/>
          </a:xfrm>
          <a:prstGeom prst="rect">
            <a:avLst/>
          </a:prstGeom>
          <a:noFill/>
          <a:ln/>
        </p:spPr>
        <p:txBody>
          <a:bodyPr wrap="square" lIns="0" tIns="0" rIns="0" bIns="0" rtlCol="0" anchor="t"/>
          <a:lstStyle/>
          <a:p>
            <a:pPr marL="0" indent="0" algn="l">
              <a:lnSpc>
                <a:spcPts val="1250"/>
              </a:lnSpc>
              <a:buNone/>
            </a:pPr>
            <a:r>
              <a:rPr lang="en-US" sz="950" dirty="0">
                <a:solidFill>
                  <a:srgbClr val="403C4E"/>
                </a:solidFill>
                <a:latin typeface="Open Sans" pitchFamily="34" charset="0"/>
                <a:ea typeface="Open Sans" pitchFamily="34" charset="-122"/>
                <a:cs typeface="Open Sans" pitchFamily="34" charset="-120"/>
              </a:rPr>
              <a:t>Visual badges displaying HTML, CSS, JavaScript, and other technologies</a:t>
            </a:r>
            <a:endParaRPr lang="en-US" sz="950" dirty="0"/>
          </a:p>
        </p:txBody>
      </p:sp>
      <p:sp>
        <p:nvSpPr>
          <p:cNvPr id="32" name="Text 29"/>
          <p:cNvSpPr/>
          <p:nvPr/>
        </p:nvSpPr>
        <p:spPr>
          <a:xfrm>
            <a:off x="9013150" y="6249948"/>
            <a:ext cx="125968" cy="157401"/>
          </a:xfrm>
          <a:prstGeom prst="rect">
            <a:avLst/>
          </a:prstGeom>
          <a:noFill/>
          <a:ln/>
        </p:spPr>
        <p:txBody>
          <a:bodyPr wrap="none" lIns="0" tIns="0" rIns="0" bIns="0" rtlCol="0" anchor="t"/>
          <a:lstStyle/>
          <a:p>
            <a:pPr marL="0" indent="0" algn="l">
              <a:lnSpc>
                <a:spcPts val="1250"/>
              </a:lnSpc>
              <a:buNone/>
            </a:pPr>
            <a:r>
              <a:rPr lang="en-US" sz="950" dirty="0">
                <a:solidFill>
                  <a:srgbClr val="403C4E"/>
                </a:solidFill>
                <a:latin typeface="Merriweather Light" pitchFamily="34" charset="0"/>
                <a:ea typeface="Merriweather Light" pitchFamily="34" charset="-122"/>
                <a:cs typeface="Merriweather Light" pitchFamily="34" charset="-120"/>
              </a:rPr>
              <a:t>05</a:t>
            </a:r>
            <a:endParaRPr lang="en-US" sz="950" dirty="0"/>
          </a:p>
        </p:txBody>
      </p:sp>
      <p:sp>
        <p:nvSpPr>
          <p:cNvPr id="33" name="Shape 30"/>
          <p:cNvSpPr/>
          <p:nvPr/>
        </p:nvSpPr>
        <p:spPr>
          <a:xfrm>
            <a:off x="9013150" y="6448663"/>
            <a:ext cx="3278148" cy="15240"/>
          </a:xfrm>
          <a:prstGeom prst="rect">
            <a:avLst/>
          </a:prstGeom>
          <a:solidFill>
            <a:srgbClr val="FFAD94"/>
          </a:solidFill>
          <a:ln/>
        </p:spPr>
        <p:txBody>
          <a:bodyPr/>
          <a:lstStyle/>
          <a:p>
            <a:endParaRPr lang="en-US"/>
          </a:p>
        </p:txBody>
      </p:sp>
      <p:sp>
        <p:nvSpPr>
          <p:cNvPr id="34" name="Text 31"/>
          <p:cNvSpPr/>
          <p:nvPr/>
        </p:nvSpPr>
        <p:spPr>
          <a:xfrm>
            <a:off x="9013150" y="6542127"/>
            <a:ext cx="1575078" cy="196810"/>
          </a:xfrm>
          <a:prstGeom prst="rect">
            <a:avLst/>
          </a:prstGeom>
          <a:noFill/>
          <a:ln/>
        </p:spPr>
        <p:txBody>
          <a:bodyPr wrap="none" lIns="0" tIns="0" rIns="0" bIns="0" rtlCol="0" anchor="t"/>
          <a:lstStyle/>
          <a:p>
            <a:pPr marL="0" indent="0" algn="l">
              <a:lnSpc>
                <a:spcPts val="1550"/>
              </a:lnSpc>
              <a:buNone/>
            </a:pPr>
            <a:r>
              <a:rPr lang="en-US" sz="1200" b="1" dirty="0">
                <a:solidFill>
                  <a:srgbClr val="403C4E"/>
                </a:solidFill>
                <a:latin typeface="Merriweather Bold" pitchFamily="34" charset="0"/>
                <a:ea typeface="Merriweather Bold" pitchFamily="34" charset="-122"/>
                <a:cs typeface="Merriweather Bold" pitchFamily="34" charset="-120"/>
              </a:rPr>
              <a:t>Contact Form</a:t>
            </a:r>
            <a:endParaRPr lang="en-US" sz="1200" dirty="0"/>
          </a:p>
        </p:txBody>
      </p:sp>
      <p:sp>
        <p:nvSpPr>
          <p:cNvPr id="35" name="Text 32"/>
          <p:cNvSpPr/>
          <p:nvPr/>
        </p:nvSpPr>
        <p:spPr>
          <a:xfrm>
            <a:off x="9013150" y="6818828"/>
            <a:ext cx="3278148" cy="329327"/>
          </a:xfrm>
          <a:prstGeom prst="rect">
            <a:avLst/>
          </a:prstGeom>
          <a:noFill/>
          <a:ln/>
        </p:spPr>
        <p:txBody>
          <a:bodyPr wrap="square" lIns="0" tIns="0" rIns="0" bIns="0" rtlCol="0" anchor="t"/>
          <a:lstStyle/>
          <a:p>
            <a:pPr marL="0" indent="0" algn="l">
              <a:lnSpc>
                <a:spcPts val="1250"/>
              </a:lnSpc>
              <a:buNone/>
            </a:pPr>
            <a:r>
              <a:rPr lang="en-US" sz="950" dirty="0">
                <a:solidFill>
                  <a:srgbClr val="403C4E"/>
                </a:solidFill>
                <a:latin typeface="Open Sans" pitchFamily="34" charset="0"/>
                <a:ea typeface="Open Sans" pitchFamily="34" charset="-122"/>
                <a:cs typeface="Open Sans" pitchFamily="34" charset="-120"/>
              </a:rPr>
              <a:t>A simple "Get in Touch" section connecting you to opportunities</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94730" y="718185"/>
            <a:ext cx="2019776" cy="327660"/>
          </a:xfrm>
          <a:prstGeom prst="roundRect">
            <a:avLst>
              <a:gd name="adj" fmla="val 17813"/>
            </a:avLst>
          </a:prstGeom>
          <a:noFill/>
          <a:ln w="7620">
            <a:solidFill>
              <a:srgbClr val="FFAD94"/>
            </a:solidFill>
            <a:prstDash val="solid"/>
          </a:ln>
        </p:spPr>
        <p:txBody>
          <a:bodyPr/>
          <a:lstStyle/>
          <a:p>
            <a:endParaRPr lang="en-US"/>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6529" y="812483"/>
            <a:ext cx="138946" cy="138946"/>
          </a:xfrm>
          <a:prstGeom prst="rect">
            <a:avLst/>
          </a:prstGeom>
        </p:spPr>
      </p:pic>
      <p:sp>
        <p:nvSpPr>
          <p:cNvPr id="4" name="Text 1"/>
          <p:cNvSpPr/>
          <p:nvPr/>
        </p:nvSpPr>
        <p:spPr>
          <a:xfrm>
            <a:off x="1014889" y="777835"/>
            <a:ext cx="1587818" cy="208359"/>
          </a:xfrm>
          <a:prstGeom prst="rect">
            <a:avLst/>
          </a:prstGeom>
          <a:noFill/>
          <a:ln/>
        </p:spPr>
        <p:txBody>
          <a:bodyPr wrap="none" lIns="0" tIns="0" rIns="0" bIns="0" rtlCol="0" anchor="t"/>
          <a:lstStyle/>
          <a:p>
            <a:pPr marL="0" indent="0" algn="l">
              <a:lnSpc>
                <a:spcPts val="1600"/>
              </a:lnSpc>
              <a:buNone/>
            </a:pPr>
            <a:r>
              <a:rPr lang="en-US" sz="1050" dirty="0">
                <a:solidFill>
                  <a:srgbClr val="FFAD94"/>
                </a:solidFill>
                <a:latin typeface="Open Sans" pitchFamily="34" charset="0"/>
                <a:ea typeface="Open Sans" pitchFamily="34" charset="-122"/>
                <a:cs typeface="Open Sans" pitchFamily="34" charset="-120"/>
              </a:rPr>
              <a:t>DEVELOPER WORKFLOW</a:t>
            </a:r>
            <a:endParaRPr lang="en-US" sz="1050" dirty="0"/>
          </a:p>
        </p:txBody>
      </p:sp>
      <p:sp>
        <p:nvSpPr>
          <p:cNvPr id="5" name="Text 2"/>
          <p:cNvSpPr/>
          <p:nvPr/>
        </p:nvSpPr>
        <p:spPr>
          <a:xfrm>
            <a:off x="694730" y="1106567"/>
            <a:ext cx="7139345" cy="542687"/>
          </a:xfrm>
          <a:prstGeom prst="rect">
            <a:avLst/>
          </a:prstGeom>
          <a:noFill/>
          <a:ln/>
        </p:spPr>
        <p:txBody>
          <a:bodyPr wrap="none" lIns="0" tIns="0" rIns="0" bIns="0" rtlCol="0" anchor="t"/>
          <a:lstStyle/>
          <a:p>
            <a:pPr marL="0" indent="0" algn="l">
              <a:lnSpc>
                <a:spcPts val="4250"/>
              </a:lnSpc>
              <a:buNone/>
            </a:pPr>
            <a:r>
              <a:rPr lang="en-US" sz="3400" b="1" dirty="0">
                <a:solidFill>
                  <a:srgbClr val="403C4E"/>
                </a:solidFill>
                <a:latin typeface="Merriweather Bold" pitchFamily="34" charset="0"/>
                <a:ea typeface="Merriweather Bold" pitchFamily="34" charset="-122"/>
                <a:cs typeface="Merriweather Bold" pitchFamily="34" charset="-120"/>
              </a:rPr>
              <a:t>The Modern Developer Workflow</a:t>
            </a:r>
            <a:endParaRPr lang="en-US" sz="3400" dirty="0"/>
          </a:p>
        </p:txBody>
      </p:sp>
      <p:sp>
        <p:nvSpPr>
          <p:cNvPr id="6" name="Text 3"/>
          <p:cNvSpPr/>
          <p:nvPr/>
        </p:nvSpPr>
        <p:spPr>
          <a:xfrm>
            <a:off x="694730" y="1877258"/>
            <a:ext cx="13240941" cy="521017"/>
          </a:xfrm>
          <a:prstGeom prst="rect">
            <a:avLst/>
          </a:prstGeom>
          <a:noFill/>
          <a:ln/>
        </p:spPr>
        <p:txBody>
          <a:bodyPr wrap="square" lIns="0" tIns="0" rIns="0" bIns="0" rtlCol="0" anchor="t"/>
          <a:lstStyle/>
          <a:p>
            <a:pPr marL="0" indent="0" algn="l">
              <a:lnSpc>
                <a:spcPts val="2050"/>
              </a:lnSpc>
              <a:buNone/>
            </a:pPr>
            <a:r>
              <a:rPr lang="en-US" sz="1350" dirty="0">
                <a:solidFill>
                  <a:srgbClr val="403C4E"/>
                </a:solidFill>
                <a:latin typeface="Open Sans" pitchFamily="34" charset="0"/>
                <a:ea typeface="Open Sans" pitchFamily="34" charset="-122"/>
                <a:cs typeface="Open Sans" pitchFamily="34" charset="-120"/>
              </a:rPr>
              <a:t>Professional developers don't just write code—they use a systematic workflow that maximizes productivity and minimizes errors. These four steps form the foundation of modern web development, transforming you from someone who dabbles in code to someone who ships real projects.</a:t>
            </a:r>
            <a:endParaRPr lang="en-US" sz="1350" dirty="0"/>
          </a:p>
        </p:txBody>
      </p:sp>
      <p:pic>
        <p:nvPicPr>
          <p:cNvPr id="7" name="Image 1" descr="preencoded.png"/>
          <p:cNvPicPr>
            <a:picLocks noChangeAspect="1"/>
          </p:cNvPicPr>
          <p:nvPr/>
        </p:nvPicPr>
        <p:blipFill>
          <a:blip r:embed="rId5"/>
          <a:stretch>
            <a:fillRect/>
          </a:stretch>
        </p:blipFill>
        <p:spPr>
          <a:xfrm>
            <a:off x="694730" y="2569250"/>
            <a:ext cx="868442" cy="1042154"/>
          </a:xfrm>
          <a:prstGeom prst="rect">
            <a:avLst/>
          </a:prstGeom>
        </p:spPr>
      </p:pic>
      <p:sp>
        <p:nvSpPr>
          <p:cNvPr id="8" name="Text 4"/>
          <p:cNvSpPr/>
          <p:nvPr/>
        </p:nvSpPr>
        <p:spPr>
          <a:xfrm>
            <a:off x="1715095" y="2742843"/>
            <a:ext cx="2171224" cy="271463"/>
          </a:xfrm>
          <a:prstGeom prst="rect">
            <a:avLst/>
          </a:prstGeom>
          <a:noFill/>
          <a:ln/>
        </p:spPr>
        <p:txBody>
          <a:bodyPr wrap="none" lIns="0" tIns="0" rIns="0" bIns="0" rtlCol="0" anchor="t"/>
          <a:lstStyle/>
          <a:p>
            <a:pPr marL="0" indent="0" algn="l">
              <a:lnSpc>
                <a:spcPts val="2100"/>
              </a:lnSpc>
              <a:buNone/>
            </a:pPr>
            <a:r>
              <a:rPr lang="en-US" sz="1700" b="1" dirty="0">
                <a:solidFill>
                  <a:srgbClr val="403C4E"/>
                </a:solidFill>
                <a:latin typeface="Merriweather Bold" pitchFamily="34" charset="0"/>
                <a:ea typeface="Merriweather Bold" pitchFamily="34" charset="-122"/>
                <a:cs typeface="Merriweather Bold" pitchFamily="34" charset="-120"/>
              </a:rPr>
              <a:t>Code</a:t>
            </a:r>
            <a:endParaRPr lang="en-US" sz="1700" dirty="0"/>
          </a:p>
        </p:txBody>
      </p:sp>
      <p:sp>
        <p:nvSpPr>
          <p:cNvPr id="9" name="Text 5"/>
          <p:cNvSpPr/>
          <p:nvPr/>
        </p:nvSpPr>
        <p:spPr>
          <a:xfrm>
            <a:off x="1715095" y="3105507"/>
            <a:ext cx="12220575" cy="260509"/>
          </a:xfrm>
          <a:prstGeom prst="rect">
            <a:avLst/>
          </a:prstGeom>
          <a:noFill/>
          <a:ln/>
        </p:spPr>
        <p:txBody>
          <a:bodyPr wrap="none" lIns="0" tIns="0" rIns="0" bIns="0" rtlCol="0" anchor="t"/>
          <a:lstStyle/>
          <a:p>
            <a:pPr marL="0" indent="0" algn="l">
              <a:lnSpc>
                <a:spcPts val="2050"/>
              </a:lnSpc>
              <a:buNone/>
            </a:pPr>
            <a:r>
              <a:rPr lang="en-US" sz="1350" dirty="0">
                <a:solidFill>
                  <a:srgbClr val="403C4E"/>
                </a:solidFill>
                <a:latin typeface="Open Sans" pitchFamily="34" charset="0"/>
                <a:ea typeface="Open Sans" pitchFamily="34" charset="-122"/>
                <a:cs typeface="Open Sans" pitchFamily="34" charset="-120"/>
              </a:rPr>
              <a:t>Write in VS Code, the industry-standard editor with powerful extensions and intelligent code completion</a:t>
            </a:r>
            <a:endParaRPr lang="en-US" sz="1350" dirty="0"/>
          </a:p>
        </p:txBody>
      </p:sp>
      <p:pic>
        <p:nvPicPr>
          <p:cNvPr id="10" name="Image 2" descr="preencoded.png"/>
          <p:cNvPicPr>
            <a:picLocks noChangeAspect="1"/>
          </p:cNvPicPr>
          <p:nvPr/>
        </p:nvPicPr>
        <p:blipFill>
          <a:blip r:embed="rId6"/>
          <a:stretch>
            <a:fillRect/>
          </a:stretch>
        </p:blipFill>
        <p:spPr>
          <a:xfrm>
            <a:off x="694730" y="3611404"/>
            <a:ext cx="868442" cy="1042154"/>
          </a:xfrm>
          <a:prstGeom prst="rect">
            <a:avLst/>
          </a:prstGeom>
        </p:spPr>
      </p:pic>
      <p:sp>
        <p:nvSpPr>
          <p:cNvPr id="11" name="Text 6"/>
          <p:cNvSpPr/>
          <p:nvPr/>
        </p:nvSpPr>
        <p:spPr>
          <a:xfrm>
            <a:off x="1715095" y="3784997"/>
            <a:ext cx="2171224" cy="271463"/>
          </a:xfrm>
          <a:prstGeom prst="rect">
            <a:avLst/>
          </a:prstGeom>
          <a:noFill/>
          <a:ln/>
        </p:spPr>
        <p:txBody>
          <a:bodyPr wrap="none" lIns="0" tIns="0" rIns="0" bIns="0" rtlCol="0" anchor="t"/>
          <a:lstStyle/>
          <a:p>
            <a:pPr marL="0" indent="0" algn="l">
              <a:lnSpc>
                <a:spcPts val="2100"/>
              </a:lnSpc>
              <a:buNone/>
            </a:pPr>
            <a:r>
              <a:rPr lang="en-US" sz="1700" b="1" dirty="0">
                <a:solidFill>
                  <a:srgbClr val="403C4E"/>
                </a:solidFill>
                <a:latin typeface="Merriweather Bold" pitchFamily="34" charset="0"/>
                <a:ea typeface="Merriweather Bold" pitchFamily="34" charset="-122"/>
                <a:cs typeface="Merriweather Bold" pitchFamily="34" charset="-120"/>
              </a:rPr>
              <a:t>Preview</a:t>
            </a:r>
            <a:endParaRPr lang="en-US" sz="1700" dirty="0"/>
          </a:p>
        </p:txBody>
      </p:sp>
      <p:sp>
        <p:nvSpPr>
          <p:cNvPr id="12" name="Text 7"/>
          <p:cNvSpPr/>
          <p:nvPr/>
        </p:nvSpPr>
        <p:spPr>
          <a:xfrm>
            <a:off x="1715095" y="4147661"/>
            <a:ext cx="12220575" cy="260509"/>
          </a:xfrm>
          <a:prstGeom prst="rect">
            <a:avLst/>
          </a:prstGeom>
          <a:noFill/>
          <a:ln/>
        </p:spPr>
        <p:txBody>
          <a:bodyPr wrap="none" lIns="0" tIns="0" rIns="0" bIns="0" rtlCol="0" anchor="t"/>
          <a:lstStyle/>
          <a:p>
            <a:pPr marL="0" indent="0" algn="l">
              <a:lnSpc>
                <a:spcPts val="2050"/>
              </a:lnSpc>
              <a:buNone/>
            </a:pPr>
            <a:r>
              <a:rPr lang="en-US" sz="1350" dirty="0">
                <a:solidFill>
                  <a:srgbClr val="403C4E"/>
                </a:solidFill>
                <a:latin typeface="Open Sans" pitchFamily="34" charset="0"/>
                <a:ea typeface="Open Sans" pitchFamily="34" charset="-122"/>
                <a:cs typeface="Open Sans" pitchFamily="34" charset="-120"/>
              </a:rPr>
              <a:t>Use Live Server extension to see changes instantly in your browser as you type</a:t>
            </a:r>
            <a:endParaRPr lang="en-US" sz="1350" dirty="0"/>
          </a:p>
        </p:txBody>
      </p:sp>
      <p:pic>
        <p:nvPicPr>
          <p:cNvPr id="13" name="Image 3" descr="preencoded.png"/>
          <p:cNvPicPr>
            <a:picLocks noChangeAspect="1"/>
          </p:cNvPicPr>
          <p:nvPr/>
        </p:nvPicPr>
        <p:blipFill>
          <a:blip r:embed="rId7"/>
          <a:stretch>
            <a:fillRect/>
          </a:stretch>
        </p:blipFill>
        <p:spPr>
          <a:xfrm>
            <a:off x="694730" y="4653558"/>
            <a:ext cx="868442" cy="1042154"/>
          </a:xfrm>
          <a:prstGeom prst="rect">
            <a:avLst/>
          </a:prstGeom>
        </p:spPr>
      </p:pic>
      <p:sp>
        <p:nvSpPr>
          <p:cNvPr id="14" name="Text 8"/>
          <p:cNvSpPr/>
          <p:nvPr/>
        </p:nvSpPr>
        <p:spPr>
          <a:xfrm>
            <a:off x="1715095" y="4827151"/>
            <a:ext cx="2171224" cy="271463"/>
          </a:xfrm>
          <a:prstGeom prst="rect">
            <a:avLst/>
          </a:prstGeom>
          <a:noFill/>
          <a:ln/>
        </p:spPr>
        <p:txBody>
          <a:bodyPr wrap="none" lIns="0" tIns="0" rIns="0" bIns="0" rtlCol="0" anchor="t"/>
          <a:lstStyle/>
          <a:p>
            <a:pPr marL="0" indent="0" algn="l">
              <a:lnSpc>
                <a:spcPts val="2100"/>
              </a:lnSpc>
              <a:buNone/>
            </a:pPr>
            <a:r>
              <a:rPr lang="en-US" sz="1700" b="1" dirty="0">
                <a:solidFill>
                  <a:srgbClr val="403C4E"/>
                </a:solidFill>
                <a:latin typeface="Merriweather Bold" pitchFamily="34" charset="0"/>
                <a:ea typeface="Merriweather Bold" pitchFamily="34" charset="-122"/>
                <a:cs typeface="Merriweather Bold" pitchFamily="34" charset="-120"/>
              </a:rPr>
              <a:t>Version Control</a:t>
            </a:r>
            <a:endParaRPr lang="en-US" sz="1700" dirty="0"/>
          </a:p>
        </p:txBody>
      </p:sp>
      <p:sp>
        <p:nvSpPr>
          <p:cNvPr id="15" name="Text 9"/>
          <p:cNvSpPr/>
          <p:nvPr/>
        </p:nvSpPr>
        <p:spPr>
          <a:xfrm>
            <a:off x="1715095" y="5189815"/>
            <a:ext cx="12220575" cy="260509"/>
          </a:xfrm>
          <a:prstGeom prst="rect">
            <a:avLst/>
          </a:prstGeom>
          <a:noFill/>
          <a:ln/>
        </p:spPr>
        <p:txBody>
          <a:bodyPr wrap="none" lIns="0" tIns="0" rIns="0" bIns="0" rtlCol="0" anchor="t"/>
          <a:lstStyle/>
          <a:p>
            <a:pPr marL="0" indent="0" algn="l">
              <a:lnSpc>
                <a:spcPts val="2050"/>
              </a:lnSpc>
              <a:buNone/>
            </a:pPr>
            <a:r>
              <a:rPr lang="en-US" sz="1350" dirty="0">
                <a:solidFill>
                  <a:srgbClr val="403C4E"/>
                </a:solidFill>
                <a:latin typeface="Open Sans" pitchFamily="34" charset="0"/>
                <a:ea typeface="Open Sans" pitchFamily="34" charset="-122"/>
                <a:cs typeface="Open Sans" pitchFamily="34" charset="-120"/>
              </a:rPr>
              <a:t>Save progress with Git and GitHub—never lose work and collaborate with others seamlessly</a:t>
            </a:r>
            <a:endParaRPr lang="en-US" sz="1350" dirty="0"/>
          </a:p>
        </p:txBody>
      </p:sp>
      <p:pic>
        <p:nvPicPr>
          <p:cNvPr id="16" name="Image 4" descr="preencoded.png"/>
          <p:cNvPicPr>
            <a:picLocks noChangeAspect="1"/>
          </p:cNvPicPr>
          <p:nvPr/>
        </p:nvPicPr>
        <p:blipFill>
          <a:blip r:embed="rId8"/>
          <a:stretch>
            <a:fillRect/>
          </a:stretch>
        </p:blipFill>
        <p:spPr>
          <a:xfrm>
            <a:off x="694730" y="5695712"/>
            <a:ext cx="868442" cy="1042154"/>
          </a:xfrm>
          <a:prstGeom prst="rect">
            <a:avLst/>
          </a:prstGeom>
        </p:spPr>
      </p:pic>
      <p:sp>
        <p:nvSpPr>
          <p:cNvPr id="17" name="Text 10"/>
          <p:cNvSpPr/>
          <p:nvPr/>
        </p:nvSpPr>
        <p:spPr>
          <a:xfrm>
            <a:off x="1715095" y="5869305"/>
            <a:ext cx="2171224" cy="271463"/>
          </a:xfrm>
          <a:prstGeom prst="rect">
            <a:avLst/>
          </a:prstGeom>
          <a:noFill/>
          <a:ln/>
        </p:spPr>
        <p:txBody>
          <a:bodyPr wrap="none" lIns="0" tIns="0" rIns="0" bIns="0" rtlCol="0" anchor="t"/>
          <a:lstStyle/>
          <a:p>
            <a:pPr marL="0" indent="0" algn="l">
              <a:lnSpc>
                <a:spcPts val="2100"/>
              </a:lnSpc>
              <a:buNone/>
            </a:pPr>
            <a:r>
              <a:rPr lang="en-US" sz="1700" b="1" dirty="0">
                <a:solidFill>
                  <a:srgbClr val="403C4E"/>
                </a:solidFill>
                <a:latin typeface="Merriweather Bold" pitchFamily="34" charset="0"/>
                <a:ea typeface="Merriweather Bold" pitchFamily="34" charset="-122"/>
                <a:cs typeface="Merriweather Bold" pitchFamily="34" charset="-120"/>
              </a:rPr>
              <a:t>Deploy</a:t>
            </a:r>
            <a:endParaRPr lang="en-US" sz="1700" dirty="0"/>
          </a:p>
        </p:txBody>
      </p:sp>
      <p:sp>
        <p:nvSpPr>
          <p:cNvPr id="18" name="Text 11"/>
          <p:cNvSpPr/>
          <p:nvPr/>
        </p:nvSpPr>
        <p:spPr>
          <a:xfrm>
            <a:off x="1715095" y="6231969"/>
            <a:ext cx="12220575" cy="260509"/>
          </a:xfrm>
          <a:prstGeom prst="rect">
            <a:avLst/>
          </a:prstGeom>
          <a:noFill/>
          <a:ln/>
        </p:spPr>
        <p:txBody>
          <a:bodyPr wrap="none" lIns="0" tIns="0" rIns="0" bIns="0" rtlCol="0" anchor="t"/>
          <a:lstStyle/>
          <a:p>
            <a:pPr marL="0" indent="0" algn="l">
              <a:lnSpc>
                <a:spcPts val="2050"/>
              </a:lnSpc>
              <a:buNone/>
            </a:pPr>
            <a:r>
              <a:rPr lang="en-US" sz="1350" dirty="0">
                <a:solidFill>
                  <a:srgbClr val="403C4E"/>
                </a:solidFill>
                <a:latin typeface="Open Sans" pitchFamily="34" charset="0"/>
                <a:ea typeface="Open Sans" pitchFamily="34" charset="-122"/>
                <a:cs typeface="Open Sans" pitchFamily="34" charset="-120"/>
              </a:rPr>
              <a:t>Go live in 2 minutes with Netlify or Vercel—turn your local project into a global website</a:t>
            </a:r>
            <a:endParaRPr lang="en-US" sz="1350" dirty="0"/>
          </a:p>
        </p:txBody>
      </p:sp>
      <p:sp>
        <p:nvSpPr>
          <p:cNvPr id="19" name="Text 12"/>
          <p:cNvSpPr/>
          <p:nvPr/>
        </p:nvSpPr>
        <p:spPr>
          <a:xfrm>
            <a:off x="955238" y="7079813"/>
            <a:ext cx="12980432" cy="260509"/>
          </a:xfrm>
          <a:prstGeom prst="rect">
            <a:avLst/>
          </a:prstGeom>
          <a:noFill/>
          <a:ln/>
        </p:spPr>
        <p:txBody>
          <a:bodyPr wrap="none" lIns="0" tIns="0" rIns="0" bIns="0" rtlCol="0" anchor="t"/>
          <a:lstStyle/>
          <a:p>
            <a:pPr marL="0" indent="0" algn="l">
              <a:lnSpc>
                <a:spcPts val="2050"/>
              </a:lnSpc>
              <a:buNone/>
            </a:pPr>
            <a:r>
              <a:rPr lang="en-US" sz="1350" dirty="0">
                <a:solidFill>
                  <a:srgbClr val="403C4E"/>
                </a:solidFill>
                <a:latin typeface="Open Sans" pitchFamily="34" charset="0"/>
                <a:ea typeface="Open Sans" pitchFamily="34" charset="-122"/>
                <a:cs typeface="Open Sans" pitchFamily="34" charset="-120"/>
              </a:rPr>
              <a:t>"Deploy early, deploy often. A live link is worth 1,000 lines of perfect, unseen code."</a:t>
            </a:r>
            <a:endParaRPr lang="en-US" sz="1350" dirty="0"/>
          </a:p>
        </p:txBody>
      </p:sp>
      <p:sp>
        <p:nvSpPr>
          <p:cNvPr id="20" name="Shape 13"/>
          <p:cNvSpPr/>
          <p:nvPr/>
        </p:nvSpPr>
        <p:spPr>
          <a:xfrm>
            <a:off x="694730" y="6908840"/>
            <a:ext cx="22860" cy="602456"/>
          </a:xfrm>
          <a:prstGeom prst="rect">
            <a:avLst/>
          </a:prstGeom>
          <a:solidFill>
            <a:srgbClr val="FFAD94"/>
          </a:solidFill>
          <a:ln/>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1520" y="591860"/>
            <a:ext cx="5697498" cy="571500"/>
          </a:xfrm>
          <a:prstGeom prst="rect">
            <a:avLst/>
          </a:prstGeom>
          <a:noFill/>
          <a:ln/>
        </p:spPr>
        <p:txBody>
          <a:bodyPr wrap="none" lIns="0" tIns="0" rIns="0" bIns="0" rtlCol="0" anchor="t"/>
          <a:lstStyle/>
          <a:p>
            <a:pPr marL="0" indent="0" algn="l">
              <a:lnSpc>
                <a:spcPts val="4500"/>
              </a:lnSpc>
              <a:buNone/>
            </a:pPr>
            <a:r>
              <a:rPr lang="en-US" sz="3600" b="1" dirty="0">
                <a:solidFill>
                  <a:srgbClr val="403C4E"/>
                </a:solidFill>
                <a:latin typeface="Merriweather Bold" pitchFamily="34" charset="0"/>
                <a:ea typeface="Merriweather Bold" pitchFamily="34" charset="-122"/>
                <a:cs typeface="Merriweather Bold" pitchFamily="34" charset="-120"/>
              </a:rPr>
              <a:t>Your 30-Day Launch Plan</a:t>
            </a:r>
            <a:endParaRPr lang="en-US" sz="3600" dirty="0"/>
          </a:p>
        </p:txBody>
      </p:sp>
      <p:sp>
        <p:nvSpPr>
          <p:cNvPr id="3" name="Text 1"/>
          <p:cNvSpPr/>
          <p:nvPr/>
        </p:nvSpPr>
        <p:spPr>
          <a:xfrm>
            <a:off x="731520" y="1500426"/>
            <a:ext cx="13167360" cy="562213"/>
          </a:xfrm>
          <a:prstGeom prst="rect">
            <a:avLst/>
          </a:prstGeom>
          <a:noFill/>
          <a:ln/>
        </p:spPr>
        <p:txBody>
          <a:bodyPr wrap="square" lIns="0" tIns="0" rIns="0" bIns="0" rtlCol="0" anchor="t"/>
          <a:lstStyle/>
          <a:p>
            <a:pPr marL="0" indent="0" algn="l">
              <a:lnSpc>
                <a:spcPts val="2200"/>
              </a:lnSpc>
              <a:buNone/>
            </a:pPr>
            <a:r>
              <a:rPr lang="en-US" sz="1400" dirty="0">
                <a:solidFill>
                  <a:srgbClr val="403C4E"/>
                </a:solidFill>
                <a:latin typeface="Open Sans" pitchFamily="34" charset="0"/>
                <a:ea typeface="Open Sans" pitchFamily="34" charset="-122"/>
                <a:cs typeface="Open Sans" pitchFamily="34" charset="-120"/>
              </a:rPr>
              <a:t>Transformation doesn't require years—just consistent, focused effort over 30 days. This timeline breaks your journey into manageable weekly milestones, each building on the last. Remember: consistency beats complexity every single time.</a:t>
            </a:r>
            <a:endParaRPr lang="en-US" sz="1400" dirty="0"/>
          </a:p>
        </p:txBody>
      </p:sp>
      <p:sp>
        <p:nvSpPr>
          <p:cNvPr id="4" name="Shape 2"/>
          <p:cNvSpPr/>
          <p:nvPr/>
        </p:nvSpPr>
        <p:spPr>
          <a:xfrm>
            <a:off x="7303770" y="2252186"/>
            <a:ext cx="22860" cy="4457581"/>
          </a:xfrm>
          <a:prstGeom prst="roundRect">
            <a:avLst>
              <a:gd name="adj" fmla="val 336027"/>
            </a:avLst>
          </a:prstGeom>
          <a:solidFill>
            <a:srgbClr val="E5BEB2"/>
          </a:solidFill>
          <a:ln/>
        </p:spPr>
        <p:txBody>
          <a:bodyPr/>
          <a:lstStyle/>
          <a:p>
            <a:endParaRPr lang="en-US"/>
          </a:p>
        </p:txBody>
      </p:sp>
      <p:sp>
        <p:nvSpPr>
          <p:cNvPr id="5" name="Shape 3"/>
          <p:cNvSpPr/>
          <p:nvPr/>
        </p:nvSpPr>
        <p:spPr>
          <a:xfrm>
            <a:off x="6583680" y="2446496"/>
            <a:ext cx="548640" cy="22860"/>
          </a:xfrm>
          <a:prstGeom prst="roundRect">
            <a:avLst>
              <a:gd name="adj" fmla="val 336027"/>
            </a:avLst>
          </a:prstGeom>
          <a:solidFill>
            <a:srgbClr val="E5BEB2"/>
          </a:solidFill>
          <a:ln/>
        </p:spPr>
        <p:txBody>
          <a:bodyPr/>
          <a:lstStyle/>
          <a:p>
            <a:endParaRPr lang="en-US"/>
          </a:p>
        </p:txBody>
      </p:sp>
      <p:sp>
        <p:nvSpPr>
          <p:cNvPr id="6" name="Shape 4"/>
          <p:cNvSpPr/>
          <p:nvPr/>
        </p:nvSpPr>
        <p:spPr>
          <a:xfrm>
            <a:off x="7109460" y="2252186"/>
            <a:ext cx="411480" cy="411480"/>
          </a:xfrm>
          <a:prstGeom prst="roundRect">
            <a:avLst>
              <a:gd name="adj" fmla="val 18668"/>
            </a:avLst>
          </a:prstGeom>
          <a:solidFill>
            <a:srgbClr val="FFD8CC"/>
          </a:solidFill>
          <a:ln w="7620">
            <a:solidFill>
              <a:srgbClr val="E5BEB2"/>
            </a:solidFill>
            <a:prstDash val="solid"/>
          </a:ln>
        </p:spPr>
        <p:txBody>
          <a:bodyPr/>
          <a:lstStyle/>
          <a:p>
            <a:endParaRPr lang="en-US"/>
          </a:p>
        </p:txBody>
      </p:sp>
      <p:sp>
        <p:nvSpPr>
          <p:cNvPr id="7" name="Text 5"/>
          <p:cNvSpPr/>
          <p:nvPr/>
        </p:nvSpPr>
        <p:spPr>
          <a:xfrm>
            <a:off x="7178040" y="2286476"/>
            <a:ext cx="274320" cy="342900"/>
          </a:xfrm>
          <a:prstGeom prst="rect">
            <a:avLst/>
          </a:prstGeom>
          <a:noFill/>
          <a:ln/>
        </p:spPr>
        <p:txBody>
          <a:bodyPr wrap="none" lIns="0" tIns="0" rIns="0" bIns="0" rtlCol="0" anchor="t"/>
          <a:lstStyle/>
          <a:p>
            <a:pPr marL="0" indent="0" algn="ctr">
              <a:lnSpc>
                <a:spcPts val="2150"/>
              </a:lnSpc>
              <a:buNone/>
            </a:pPr>
            <a:r>
              <a:rPr lang="en-US" sz="2150" b="1" dirty="0">
                <a:solidFill>
                  <a:srgbClr val="403C4E"/>
                </a:solidFill>
                <a:latin typeface="Merriweather Bold" pitchFamily="34" charset="0"/>
                <a:ea typeface="Merriweather Bold" pitchFamily="34" charset="-122"/>
                <a:cs typeface="Merriweather Bold" pitchFamily="34" charset="-120"/>
              </a:rPr>
              <a:t>1</a:t>
            </a:r>
            <a:endParaRPr lang="en-US" sz="2150" dirty="0"/>
          </a:p>
        </p:txBody>
      </p:sp>
      <p:sp>
        <p:nvSpPr>
          <p:cNvPr id="8" name="Text 6"/>
          <p:cNvSpPr/>
          <p:nvPr/>
        </p:nvSpPr>
        <p:spPr>
          <a:xfrm>
            <a:off x="4114681" y="2315051"/>
            <a:ext cx="2286119" cy="285750"/>
          </a:xfrm>
          <a:prstGeom prst="rect">
            <a:avLst/>
          </a:prstGeom>
          <a:noFill/>
          <a:ln/>
        </p:spPr>
        <p:txBody>
          <a:bodyPr wrap="none" lIns="0" tIns="0" rIns="0" bIns="0" rtlCol="0" anchor="t"/>
          <a:lstStyle/>
          <a:p>
            <a:pPr marL="0" indent="0" algn="r">
              <a:lnSpc>
                <a:spcPts val="2250"/>
              </a:lnSpc>
              <a:buNone/>
            </a:pPr>
            <a:r>
              <a:rPr lang="en-US" sz="1800" b="1" dirty="0">
                <a:solidFill>
                  <a:srgbClr val="403C4E"/>
                </a:solidFill>
                <a:latin typeface="Merriweather Bold" pitchFamily="34" charset="0"/>
                <a:ea typeface="Merriweather Bold" pitchFamily="34" charset="-122"/>
                <a:cs typeface="Merriweather Bold" pitchFamily="34" charset="-120"/>
              </a:rPr>
              <a:t>Week 1: Foundation</a:t>
            </a:r>
            <a:endParaRPr lang="en-US" sz="1800" dirty="0"/>
          </a:p>
        </p:txBody>
      </p:sp>
      <p:sp>
        <p:nvSpPr>
          <p:cNvPr id="9" name="Text 7"/>
          <p:cNvSpPr/>
          <p:nvPr/>
        </p:nvSpPr>
        <p:spPr>
          <a:xfrm>
            <a:off x="731520" y="2701885"/>
            <a:ext cx="5669280" cy="843320"/>
          </a:xfrm>
          <a:prstGeom prst="rect">
            <a:avLst/>
          </a:prstGeom>
          <a:noFill/>
          <a:ln/>
        </p:spPr>
        <p:txBody>
          <a:bodyPr wrap="square" lIns="0" tIns="0" rIns="0" bIns="0" rtlCol="0" anchor="t"/>
          <a:lstStyle/>
          <a:p>
            <a:pPr marL="0" indent="0" algn="r">
              <a:lnSpc>
                <a:spcPts val="2200"/>
              </a:lnSpc>
              <a:buNone/>
            </a:pPr>
            <a:r>
              <a:rPr lang="en-US" sz="1400" dirty="0">
                <a:solidFill>
                  <a:srgbClr val="403C4E"/>
                </a:solidFill>
                <a:latin typeface="Open Sans" pitchFamily="34" charset="0"/>
                <a:ea typeface="Open Sans" pitchFamily="34" charset="-122"/>
                <a:cs typeface="Open Sans" pitchFamily="34" charset="-120"/>
              </a:rPr>
              <a:t>Learn HTML structure and semantic tags. Build the complete skeleton of your portfolio with all five sections. Focus on content over style.</a:t>
            </a:r>
            <a:endParaRPr lang="en-US" sz="1400" dirty="0"/>
          </a:p>
        </p:txBody>
      </p:sp>
      <p:sp>
        <p:nvSpPr>
          <p:cNvPr id="10" name="Shape 8"/>
          <p:cNvSpPr/>
          <p:nvPr/>
        </p:nvSpPr>
        <p:spPr>
          <a:xfrm>
            <a:off x="7498080" y="3515082"/>
            <a:ext cx="548640" cy="22860"/>
          </a:xfrm>
          <a:prstGeom prst="roundRect">
            <a:avLst>
              <a:gd name="adj" fmla="val 336027"/>
            </a:avLst>
          </a:prstGeom>
          <a:solidFill>
            <a:srgbClr val="E5BEB2"/>
          </a:solidFill>
          <a:ln/>
        </p:spPr>
        <p:txBody>
          <a:bodyPr/>
          <a:lstStyle/>
          <a:p>
            <a:endParaRPr lang="en-US"/>
          </a:p>
        </p:txBody>
      </p:sp>
      <p:sp>
        <p:nvSpPr>
          <p:cNvPr id="11" name="Shape 9"/>
          <p:cNvSpPr/>
          <p:nvPr/>
        </p:nvSpPr>
        <p:spPr>
          <a:xfrm>
            <a:off x="7109460" y="3320772"/>
            <a:ext cx="411480" cy="411480"/>
          </a:xfrm>
          <a:prstGeom prst="roundRect">
            <a:avLst>
              <a:gd name="adj" fmla="val 18668"/>
            </a:avLst>
          </a:prstGeom>
          <a:solidFill>
            <a:srgbClr val="FFD8CC"/>
          </a:solidFill>
          <a:ln w="7620">
            <a:solidFill>
              <a:srgbClr val="E5BEB2"/>
            </a:solidFill>
            <a:prstDash val="solid"/>
          </a:ln>
        </p:spPr>
        <p:txBody>
          <a:bodyPr/>
          <a:lstStyle/>
          <a:p>
            <a:endParaRPr lang="en-US"/>
          </a:p>
        </p:txBody>
      </p:sp>
      <p:sp>
        <p:nvSpPr>
          <p:cNvPr id="12" name="Text 10"/>
          <p:cNvSpPr/>
          <p:nvPr/>
        </p:nvSpPr>
        <p:spPr>
          <a:xfrm>
            <a:off x="7178040" y="3355062"/>
            <a:ext cx="274320" cy="342900"/>
          </a:xfrm>
          <a:prstGeom prst="rect">
            <a:avLst/>
          </a:prstGeom>
          <a:noFill/>
          <a:ln/>
        </p:spPr>
        <p:txBody>
          <a:bodyPr wrap="none" lIns="0" tIns="0" rIns="0" bIns="0" rtlCol="0" anchor="t"/>
          <a:lstStyle/>
          <a:p>
            <a:pPr marL="0" indent="0" algn="ctr">
              <a:lnSpc>
                <a:spcPts val="2150"/>
              </a:lnSpc>
              <a:buNone/>
            </a:pPr>
            <a:r>
              <a:rPr lang="en-US" sz="2150" b="1" dirty="0">
                <a:solidFill>
                  <a:srgbClr val="403C4E"/>
                </a:solidFill>
                <a:latin typeface="Merriweather Bold" pitchFamily="34" charset="0"/>
                <a:ea typeface="Merriweather Bold" pitchFamily="34" charset="-122"/>
                <a:cs typeface="Merriweather Bold" pitchFamily="34" charset="-120"/>
              </a:rPr>
              <a:t>2</a:t>
            </a:r>
            <a:endParaRPr lang="en-US" sz="2150" dirty="0"/>
          </a:p>
        </p:txBody>
      </p:sp>
      <p:sp>
        <p:nvSpPr>
          <p:cNvPr id="13" name="Text 11"/>
          <p:cNvSpPr/>
          <p:nvPr/>
        </p:nvSpPr>
        <p:spPr>
          <a:xfrm>
            <a:off x="8229600" y="3383637"/>
            <a:ext cx="2286119" cy="285750"/>
          </a:xfrm>
          <a:prstGeom prst="rect">
            <a:avLst/>
          </a:prstGeom>
          <a:noFill/>
          <a:ln/>
        </p:spPr>
        <p:txBody>
          <a:bodyPr wrap="none" lIns="0" tIns="0" rIns="0" bIns="0" rtlCol="0" anchor="t"/>
          <a:lstStyle/>
          <a:p>
            <a:pPr marL="0" indent="0" algn="l">
              <a:lnSpc>
                <a:spcPts val="2250"/>
              </a:lnSpc>
              <a:buNone/>
            </a:pPr>
            <a:r>
              <a:rPr lang="en-US" sz="1800" b="1" dirty="0">
                <a:solidFill>
                  <a:srgbClr val="403C4E"/>
                </a:solidFill>
                <a:latin typeface="Merriweather Bold" pitchFamily="34" charset="0"/>
                <a:ea typeface="Merriweather Bold" pitchFamily="34" charset="-122"/>
                <a:cs typeface="Merriweather Bold" pitchFamily="34" charset="-120"/>
              </a:rPr>
              <a:t>Week 2: Beauty</a:t>
            </a:r>
            <a:endParaRPr lang="en-US" sz="1800" dirty="0"/>
          </a:p>
        </p:txBody>
      </p:sp>
      <p:sp>
        <p:nvSpPr>
          <p:cNvPr id="14" name="Text 12"/>
          <p:cNvSpPr/>
          <p:nvPr/>
        </p:nvSpPr>
        <p:spPr>
          <a:xfrm>
            <a:off x="8229600" y="3770471"/>
            <a:ext cx="5669280" cy="843320"/>
          </a:xfrm>
          <a:prstGeom prst="rect">
            <a:avLst/>
          </a:prstGeom>
          <a:noFill/>
          <a:ln/>
        </p:spPr>
        <p:txBody>
          <a:bodyPr wrap="square" lIns="0" tIns="0" rIns="0" bIns="0" rtlCol="0" anchor="t"/>
          <a:lstStyle/>
          <a:p>
            <a:pPr marL="0" indent="0" algn="l">
              <a:lnSpc>
                <a:spcPts val="2200"/>
              </a:lnSpc>
              <a:buNone/>
            </a:pPr>
            <a:r>
              <a:rPr lang="en-US" sz="1400" dirty="0">
                <a:solidFill>
                  <a:srgbClr val="403C4E"/>
                </a:solidFill>
                <a:latin typeface="Open Sans" pitchFamily="34" charset="0"/>
                <a:ea typeface="Open Sans" pitchFamily="34" charset="-122"/>
                <a:cs typeface="Open Sans" pitchFamily="34" charset="-120"/>
              </a:rPr>
              <a:t>Style everything with Tailwind CSS. Transform your plain HTML into a stunning, responsive design that works perfectly on mobile, tablet, and desktop.</a:t>
            </a:r>
            <a:endParaRPr lang="en-US" sz="1400" dirty="0"/>
          </a:p>
        </p:txBody>
      </p:sp>
      <p:sp>
        <p:nvSpPr>
          <p:cNvPr id="15" name="Shape 13"/>
          <p:cNvSpPr/>
          <p:nvPr/>
        </p:nvSpPr>
        <p:spPr>
          <a:xfrm>
            <a:off x="6583680" y="4446508"/>
            <a:ext cx="548640" cy="22860"/>
          </a:xfrm>
          <a:prstGeom prst="roundRect">
            <a:avLst>
              <a:gd name="adj" fmla="val 336027"/>
            </a:avLst>
          </a:prstGeom>
          <a:solidFill>
            <a:srgbClr val="E5BEB2"/>
          </a:solidFill>
          <a:ln/>
        </p:spPr>
        <p:txBody>
          <a:bodyPr/>
          <a:lstStyle/>
          <a:p>
            <a:endParaRPr lang="en-US"/>
          </a:p>
        </p:txBody>
      </p:sp>
      <p:sp>
        <p:nvSpPr>
          <p:cNvPr id="16" name="Shape 14"/>
          <p:cNvSpPr/>
          <p:nvPr/>
        </p:nvSpPr>
        <p:spPr>
          <a:xfrm>
            <a:off x="7109460" y="4252198"/>
            <a:ext cx="411480" cy="411480"/>
          </a:xfrm>
          <a:prstGeom prst="roundRect">
            <a:avLst>
              <a:gd name="adj" fmla="val 18668"/>
            </a:avLst>
          </a:prstGeom>
          <a:solidFill>
            <a:srgbClr val="FFD8CC"/>
          </a:solidFill>
          <a:ln w="7620">
            <a:solidFill>
              <a:srgbClr val="E5BEB2"/>
            </a:solidFill>
            <a:prstDash val="solid"/>
          </a:ln>
        </p:spPr>
        <p:txBody>
          <a:bodyPr/>
          <a:lstStyle/>
          <a:p>
            <a:endParaRPr lang="en-US"/>
          </a:p>
        </p:txBody>
      </p:sp>
      <p:sp>
        <p:nvSpPr>
          <p:cNvPr id="17" name="Text 15"/>
          <p:cNvSpPr/>
          <p:nvPr/>
        </p:nvSpPr>
        <p:spPr>
          <a:xfrm>
            <a:off x="7178040" y="4286488"/>
            <a:ext cx="274320" cy="342900"/>
          </a:xfrm>
          <a:prstGeom prst="rect">
            <a:avLst/>
          </a:prstGeom>
          <a:noFill/>
          <a:ln/>
        </p:spPr>
        <p:txBody>
          <a:bodyPr wrap="none" lIns="0" tIns="0" rIns="0" bIns="0" rtlCol="0" anchor="t"/>
          <a:lstStyle/>
          <a:p>
            <a:pPr marL="0" indent="0" algn="ctr">
              <a:lnSpc>
                <a:spcPts val="2150"/>
              </a:lnSpc>
              <a:buNone/>
            </a:pPr>
            <a:r>
              <a:rPr lang="en-US" sz="2150" b="1" dirty="0">
                <a:solidFill>
                  <a:srgbClr val="403C4E"/>
                </a:solidFill>
                <a:latin typeface="Merriweather Bold" pitchFamily="34" charset="0"/>
                <a:ea typeface="Merriweather Bold" pitchFamily="34" charset="-122"/>
                <a:cs typeface="Merriweather Bold" pitchFamily="34" charset="-120"/>
              </a:rPr>
              <a:t>3</a:t>
            </a:r>
            <a:endParaRPr lang="en-US" sz="2150" dirty="0"/>
          </a:p>
        </p:txBody>
      </p:sp>
      <p:sp>
        <p:nvSpPr>
          <p:cNvPr id="18" name="Text 16"/>
          <p:cNvSpPr/>
          <p:nvPr/>
        </p:nvSpPr>
        <p:spPr>
          <a:xfrm>
            <a:off x="4082891" y="4315063"/>
            <a:ext cx="2317909" cy="285750"/>
          </a:xfrm>
          <a:prstGeom prst="rect">
            <a:avLst/>
          </a:prstGeom>
          <a:noFill/>
          <a:ln/>
        </p:spPr>
        <p:txBody>
          <a:bodyPr wrap="none" lIns="0" tIns="0" rIns="0" bIns="0" rtlCol="0" anchor="t"/>
          <a:lstStyle/>
          <a:p>
            <a:pPr marL="0" indent="0" algn="r">
              <a:lnSpc>
                <a:spcPts val="2250"/>
              </a:lnSpc>
              <a:buNone/>
            </a:pPr>
            <a:r>
              <a:rPr lang="en-US" sz="1800" b="1" dirty="0">
                <a:solidFill>
                  <a:srgbClr val="403C4E"/>
                </a:solidFill>
                <a:latin typeface="Merriweather Bold" pitchFamily="34" charset="0"/>
                <a:ea typeface="Merriweather Bold" pitchFamily="34" charset="-122"/>
                <a:cs typeface="Merriweather Bold" pitchFamily="34" charset="-120"/>
              </a:rPr>
              <a:t>Week 3: Interactivity</a:t>
            </a:r>
            <a:endParaRPr lang="en-US" sz="1800" dirty="0"/>
          </a:p>
        </p:txBody>
      </p:sp>
      <p:sp>
        <p:nvSpPr>
          <p:cNvPr id="19" name="Text 17"/>
          <p:cNvSpPr/>
          <p:nvPr/>
        </p:nvSpPr>
        <p:spPr>
          <a:xfrm>
            <a:off x="731520" y="4701897"/>
            <a:ext cx="5669280" cy="843320"/>
          </a:xfrm>
          <a:prstGeom prst="rect">
            <a:avLst/>
          </a:prstGeom>
          <a:noFill/>
          <a:ln/>
        </p:spPr>
        <p:txBody>
          <a:bodyPr wrap="square" lIns="0" tIns="0" rIns="0" bIns="0" rtlCol="0" anchor="t"/>
          <a:lstStyle/>
          <a:p>
            <a:pPr marL="0" indent="0" algn="r">
              <a:lnSpc>
                <a:spcPts val="2200"/>
              </a:lnSpc>
              <a:buNone/>
            </a:pPr>
            <a:r>
              <a:rPr lang="en-US" sz="1400" dirty="0">
                <a:solidFill>
                  <a:srgbClr val="403C4E"/>
                </a:solidFill>
                <a:latin typeface="Open Sans" pitchFamily="34" charset="0"/>
                <a:ea typeface="Open Sans" pitchFamily="34" charset="-122"/>
                <a:cs typeface="Open Sans" pitchFamily="34" charset="-120"/>
              </a:rPr>
              <a:t>Add 2-3 JavaScript interactions—maybe a dark mode toggle, smooth scrolling navigation, or form validation alerts. Keep it simple but impressive.</a:t>
            </a:r>
            <a:endParaRPr lang="en-US" sz="1400" dirty="0"/>
          </a:p>
        </p:txBody>
      </p:sp>
      <p:sp>
        <p:nvSpPr>
          <p:cNvPr id="20" name="Shape 18"/>
          <p:cNvSpPr/>
          <p:nvPr/>
        </p:nvSpPr>
        <p:spPr>
          <a:xfrm>
            <a:off x="7498080" y="5378053"/>
            <a:ext cx="548640" cy="22860"/>
          </a:xfrm>
          <a:prstGeom prst="roundRect">
            <a:avLst>
              <a:gd name="adj" fmla="val 336027"/>
            </a:avLst>
          </a:prstGeom>
          <a:solidFill>
            <a:srgbClr val="E5BEB2"/>
          </a:solidFill>
          <a:ln/>
        </p:spPr>
        <p:txBody>
          <a:bodyPr/>
          <a:lstStyle/>
          <a:p>
            <a:endParaRPr lang="en-US"/>
          </a:p>
        </p:txBody>
      </p:sp>
      <p:sp>
        <p:nvSpPr>
          <p:cNvPr id="21" name="Shape 19"/>
          <p:cNvSpPr/>
          <p:nvPr/>
        </p:nvSpPr>
        <p:spPr>
          <a:xfrm>
            <a:off x="7109460" y="5183743"/>
            <a:ext cx="411480" cy="411480"/>
          </a:xfrm>
          <a:prstGeom prst="roundRect">
            <a:avLst>
              <a:gd name="adj" fmla="val 18668"/>
            </a:avLst>
          </a:prstGeom>
          <a:solidFill>
            <a:srgbClr val="FFD8CC"/>
          </a:solidFill>
          <a:ln w="7620">
            <a:solidFill>
              <a:srgbClr val="E5BEB2"/>
            </a:solidFill>
            <a:prstDash val="solid"/>
          </a:ln>
        </p:spPr>
        <p:txBody>
          <a:bodyPr/>
          <a:lstStyle/>
          <a:p>
            <a:endParaRPr lang="en-US"/>
          </a:p>
        </p:txBody>
      </p:sp>
      <p:sp>
        <p:nvSpPr>
          <p:cNvPr id="22" name="Text 20"/>
          <p:cNvSpPr/>
          <p:nvPr/>
        </p:nvSpPr>
        <p:spPr>
          <a:xfrm>
            <a:off x="7178040" y="5218033"/>
            <a:ext cx="274320" cy="342900"/>
          </a:xfrm>
          <a:prstGeom prst="rect">
            <a:avLst/>
          </a:prstGeom>
          <a:noFill/>
          <a:ln/>
        </p:spPr>
        <p:txBody>
          <a:bodyPr wrap="none" lIns="0" tIns="0" rIns="0" bIns="0" rtlCol="0" anchor="t"/>
          <a:lstStyle/>
          <a:p>
            <a:pPr marL="0" indent="0" algn="ctr">
              <a:lnSpc>
                <a:spcPts val="2150"/>
              </a:lnSpc>
              <a:buNone/>
            </a:pPr>
            <a:r>
              <a:rPr lang="en-US" sz="2150" b="1" dirty="0">
                <a:solidFill>
                  <a:srgbClr val="403C4E"/>
                </a:solidFill>
                <a:latin typeface="Merriweather Bold" pitchFamily="34" charset="0"/>
                <a:ea typeface="Merriweather Bold" pitchFamily="34" charset="-122"/>
                <a:cs typeface="Merriweather Bold" pitchFamily="34" charset="-120"/>
              </a:rPr>
              <a:t>4</a:t>
            </a:r>
            <a:endParaRPr lang="en-US" sz="2150" dirty="0"/>
          </a:p>
        </p:txBody>
      </p:sp>
      <p:sp>
        <p:nvSpPr>
          <p:cNvPr id="23" name="Text 21"/>
          <p:cNvSpPr/>
          <p:nvPr/>
        </p:nvSpPr>
        <p:spPr>
          <a:xfrm>
            <a:off x="8229600" y="5246608"/>
            <a:ext cx="2286119" cy="285750"/>
          </a:xfrm>
          <a:prstGeom prst="rect">
            <a:avLst/>
          </a:prstGeom>
          <a:noFill/>
          <a:ln/>
        </p:spPr>
        <p:txBody>
          <a:bodyPr wrap="none" lIns="0" tIns="0" rIns="0" bIns="0" rtlCol="0" anchor="t"/>
          <a:lstStyle/>
          <a:p>
            <a:pPr marL="0" indent="0" algn="l">
              <a:lnSpc>
                <a:spcPts val="2250"/>
              </a:lnSpc>
              <a:buNone/>
            </a:pPr>
            <a:r>
              <a:rPr lang="en-US" sz="1800" b="1" dirty="0">
                <a:solidFill>
                  <a:srgbClr val="403C4E"/>
                </a:solidFill>
                <a:latin typeface="Merriweather Bold" pitchFamily="34" charset="0"/>
                <a:ea typeface="Merriweather Bold" pitchFamily="34" charset="-122"/>
                <a:cs typeface="Merriweather Bold" pitchFamily="34" charset="-120"/>
              </a:rPr>
              <a:t>Week 4: Launch</a:t>
            </a:r>
            <a:endParaRPr lang="en-US" sz="1800" dirty="0"/>
          </a:p>
        </p:txBody>
      </p:sp>
      <p:sp>
        <p:nvSpPr>
          <p:cNvPr id="24" name="Text 22"/>
          <p:cNvSpPr/>
          <p:nvPr/>
        </p:nvSpPr>
        <p:spPr>
          <a:xfrm>
            <a:off x="8229600" y="5633442"/>
            <a:ext cx="5669280" cy="843320"/>
          </a:xfrm>
          <a:prstGeom prst="rect">
            <a:avLst/>
          </a:prstGeom>
          <a:noFill/>
          <a:ln/>
        </p:spPr>
        <p:txBody>
          <a:bodyPr wrap="square" lIns="0" tIns="0" rIns="0" bIns="0" rtlCol="0" anchor="t"/>
          <a:lstStyle/>
          <a:p>
            <a:pPr marL="0" indent="0" algn="l">
              <a:lnSpc>
                <a:spcPts val="2200"/>
              </a:lnSpc>
              <a:buNone/>
            </a:pPr>
            <a:r>
              <a:rPr lang="en-US" sz="1400" dirty="0">
                <a:solidFill>
                  <a:srgbClr val="403C4E"/>
                </a:solidFill>
                <a:latin typeface="Open Sans" pitchFamily="34" charset="0"/>
                <a:ea typeface="Open Sans" pitchFamily="34" charset="-122"/>
                <a:cs typeface="Open Sans" pitchFamily="34" charset="-120"/>
              </a:rPr>
              <a:t>Push your code to GitHub, deploy on Netlify, and share your live link everywhere. Update your resume, LinkedIn, and social profiles with your new portfolio.</a:t>
            </a:r>
            <a:endParaRPr lang="en-US" sz="1400" dirty="0"/>
          </a:p>
        </p:txBody>
      </p:sp>
      <p:sp>
        <p:nvSpPr>
          <p:cNvPr id="25" name="Shape 23"/>
          <p:cNvSpPr/>
          <p:nvPr/>
        </p:nvSpPr>
        <p:spPr>
          <a:xfrm>
            <a:off x="731520" y="6899315"/>
            <a:ext cx="13167360" cy="738307"/>
          </a:xfrm>
          <a:prstGeom prst="roundRect">
            <a:avLst>
              <a:gd name="adj" fmla="val 10404"/>
            </a:avLst>
          </a:prstGeom>
          <a:solidFill>
            <a:srgbClr val="FFC4B3"/>
          </a:solidFill>
          <a:ln/>
        </p:spPr>
        <p:txBody>
          <a:bodyPr/>
          <a:lstStyle/>
          <a:p>
            <a:endParaRPr lang="en-US"/>
          </a:p>
        </p:txBody>
      </p:sp>
      <p:pic>
        <p:nvPicPr>
          <p:cNvPr id="26" name="Image 0" descr="preencoded.png"/>
          <p:cNvPicPr>
            <a:picLocks noChangeAspect="1"/>
          </p:cNvPicPr>
          <p:nvPr/>
        </p:nvPicPr>
        <p:blipFill>
          <a:blip r:embed="rId3"/>
          <a:stretch>
            <a:fillRect/>
          </a:stretch>
        </p:blipFill>
        <p:spPr>
          <a:xfrm>
            <a:off x="914400" y="7173635"/>
            <a:ext cx="228600" cy="182880"/>
          </a:xfrm>
          <a:prstGeom prst="rect">
            <a:avLst/>
          </a:prstGeom>
        </p:spPr>
      </p:pic>
      <p:sp>
        <p:nvSpPr>
          <p:cNvPr id="27" name="Text 24"/>
          <p:cNvSpPr/>
          <p:nvPr/>
        </p:nvSpPr>
        <p:spPr>
          <a:xfrm>
            <a:off x="1325880" y="7113508"/>
            <a:ext cx="12390120" cy="281107"/>
          </a:xfrm>
          <a:prstGeom prst="rect">
            <a:avLst/>
          </a:prstGeom>
          <a:noFill/>
          <a:ln/>
        </p:spPr>
        <p:txBody>
          <a:bodyPr wrap="none" lIns="0" tIns="0" rIns="0" bIns="0" rtlCol="0" anchor="t"/>
          <a:lstStyle/>
          <a:p>
            <a:pPr marL="0" indent="0" algn="l">
              <a:lnSpc>
                <a:spcPts val="2200"/>
              </a:lnSpc>
              <a:buNone/>
            </a:pPr>
            <a:r>
              <a:rPr lang="en-US" sz="1400" dirty="0">
                <a:solidFill>
                  <a:srgbClr val="000000"/>
                </a:solidFill>
                <a:latin typeface="Open Sans" pitchFamily="34" charset="0"/>
                <a:ea typeface="Open Sans" pitchFamily="34" charset="-122"/>
                <a:cs typeface="Open Sans" pitchFamily="34" charset="-120"/>
              </a:rPr>
              <a:t>Consistency &gt; Complexity. One hour a day builds empires.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947148"/>
          </a:xfrm>
          <a:prstGeom prst="rect">
            <a:avLst/>
          </a:prstGeom>
        </p:spPr>
      </p:pic>
      <p:sp>
        <p:nvSpPr>
          <p:cNvPr id="3" name="Text 0"/>
          <p:cNvSpPr/>
          <p:nvPr/>
        </p:nvSpPr>
        <p:spPr>
          <a:xfrm>
            <a:off x="1173004" y="3016091"/>
            <a:ext cx="8665488" cy="486728"/>
          </a:xfrm>
          <a:prstGeom prst="rect">
            <a:avLst/>
          </a:prstGeom>
          <a:noFill/>
          <a:ln/>
        </p:spPr>
        <p:txBody>
          <a:bodyPr wrap="none" lIns="0" tIns="0" rIns="0" bIns="0" rtlCol="0" anchor="t"/>
          <a:lstStyle/>
          <a:p>
            <a:pPr marL="0" indent="0" algn="l">
              <a:lnSpc>
                <a:spcPts val="3800"/>
              </a:lnSpc>
              <a:buNone/>
            </a:pPr>
            <a:r>
              <a:rPr lang="en-US" sz="3050" b="1" dirty="0">
                <a:solidFill>
                  <a:srgbClr val="403C4E"/>
                </a:solidFill>
                <a:latin typeface="Merriweather Bold" pitchFamily="34" charset="0"/>
                <a:ea typeface="Merriweather Bold" pitchFamily="34" charset="-122"/>
                <a:cs typeface="Merriweather Bold" pitchFamily="34" charset="-120"/>
              </a:rPr>
              <a:t>The Internet is Waiting for Your Contribution</a:t>
            </a:r>
            <a:endParaRPr lang="en-US" sz="3050" dirty="0"/>
          </a:p>
        </p:txBody>
      </p:sp>
      <p:sp>
        <p:nvSpPr>
          <p:cNvPr id="4" name="Text 1"/>
          <p:cNvSpPr/>
          <p:nvPr/>
        </p:nvSpPr>
        <p:spPr>
          <a:xfrm>
            <a:off x="1173004" y="3686175"/>
            <a:ext cx="12284273" cy="444579"/>
          </a:xfrm>
          <a:prstGeom prst="rect">
            <a:avLst/>
          </a:prstGeom>
          <a:noFill/>
          <a:ln/>
        </p:spPr>
        <p:txBody>
          <a:bodyPr wrap="square" lIns="0" tIns="0" rIns="0" bIns="0" rtlCol="0" anchor="t"/>
          <a:lstStyle/>
          <a:p>
            <a:pPr marL="0" indent="0" algn="l">
              <a:lnSpc>
                <a:spcPts val="1750"/>
              </a:lnSpc>
              <a:buNone/>
            </a:pPr>
            <a:r>
              <a:rPr lang="en-US" sz="1200" dirty="0">
                <a:solidFill>
                  <a:srgbClr val="403C4E"/>
                </a:solidFill>
                <a:latin typeface="Open Sans" pitchFamily="34" charset="0"/>
                <a:ea typeface="Open Sans" pitchFamily="34" charset="-122"/>
                <a:cs typeface="Open Sans" pitchFamily="34" charset="-120"/>
              </a:rPr>
              <a:t>You don't need permission to build. The tools are free. The tutorials are free. The platform is global. Every great developer started exactly where you are now—at the beginning, with curiosity and determination.</a:t>
            </a:r>
            <a:endParaRPr lang="en-US" sz="1200" dirty="0"/>
          </a:p>
        </p:txBody>
      </p:sp>
      <p:sp>
        <p:nvSpPr>
          <p:cNvPr id="5" name="Text 2"/>
          <p:cNvSpPr/>
          <p:nvPr/>
        </p:nvSpPr>
        <p:spPr>
          <a:xfrm>
            <a:off x="1173004" y="4268272"/>
            <a:ext cx="12284273" cy="444579"/>
          </a:xfrm>
          <a:prstGeom prst="rect">
            <a:avLst/>
          </a:prstGeom>
          <a:noFill/>
          <a:ln/>
        </p:spPr>
        <p:txBody>
          <a:bodyPr wrap="square" lIns="0" tIns="0" rIns="0" bIns="0" rtlCol="0" anchor="t"/>
          <a:lstStyle/>
          <a:p>
            <a:pPr marL="0" indent="0" algn="l">
              <a:lnSpc>
                <a:spcPts val="1750"/>
              </a:lnSpc>
              <a:buNone/>
            </a:pPr>
            <a:r>
              <a:rPr lang="en-US" sz="1200" dirty="0">
                <a:solidFill>
                  <a:srgbClr val="403C4E"/>
                </a:solidFill>
                <a:latin typeface="Open Sans" pitchFamily="34" charset="0"/>
                <a:ea typeface="Open Sans" pitchFamily="34" charset="-122"/>
                <a:cs typeface="Open Sans" pitchFamily="34" charset="-120"/>
              </a:rPr>
              <a:t>Ajira Club provides the community, the guidance, and the push you need to go from aspiring to achieving. We believe in learning by doing, building in public, and supporting each other's growth.</a:t>
            </a:r>
            <a:endParaRPr lang="en-US" sz="1200" dirty="0"/>
          </a:p>
        </p:txBody>
      </p:sp>
      <p:sp>
        <p:nvSpPr>
          <p:cNvPr id="6" name="Shape 3"/>
          <p:cNvSpPr/>
          <p:nvPr/>
        </p:nvSpPr>
        <p:spPr>
          <a:xfrm>
            <a:off x="1173004" y="4850368"/>
            <a:ext cx="4013240" cy="1455063"/>
          </a:xfrm>
          <a:prstGeom prst="roundRect">
            <a:avLst>
              <a:gd name="adj" fmla="val 4497"/>
            </a:avLst>
          </a:prstGeom>
          <a:solidFill>
            <a:srgbClr val="FFD8CC"/>
          </a:solidFill>
          <a:ln w="7620">
            <a:solidFill>
              <a:srgbClr val="E5BEB2"/>
            </a:solidFill>
            <a:prstDash val="solid"/>
          </a:ln>
        </p:spPr>
        <p:txBody>
          <a:bodyPr/>
          <a:lstStyle/>
          <a:p>
            <a:endParaRPr lang="en-US"/>
          </a:p>
        </p:txBody>
      </p:sp>
      <p:sp>
        <p:nvSpPr>
          <p:cNvPr id="7" name="Shape 4"/>
          <p:cNvSpPr/>
          <p:nvPr/>
        </p:nvSpPr>
        <p:spPr>
          <a:xfrm>
            <a:off x="1336358" y="5013722"/>
            <a:ext cx="467320" cy="467320"/>
          </a:xfrm>
          <a:prstGeom prst="roundRect">
            <a:avLst>
              <a:gd name="adj" fmla="val 19564935"/>
            </a:avLst>
          </a:prstGeom>
          <a:solidFill>
            <a:srgbClr val="FFAD94"/>
          </a:solidFill>
          <a:ln/>
        </p:spPr>
        <p:txBody>
          <a:bodyPr/>
          <a:lstStyle/>
          <a:p>
            <a:endParaRPr lang="en-US"/>
          </a:p>
        </p:txBody>
      </p:sp>
      <p:pic>
        <p:nvPicPr>
          <p:cNvPr id="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64826" y="5142190"/>
            <a:ext cx="210264" cy="210264"/>
          </a:xfrm>
          <a:prstGeom prst="rect">
            <a:avLst/>
          </a:prstGeom>
        </p:spPr>
      </p:pic>
      <p:sp>
        <p:nvSpPr>
          <p:cNvPr id="9" name="Text 5"/>
          <p:cNvSpPr/>
          <p:nvPr/>
        </p:nvSpPr>
        <p:spPr>
          <a:xfrm>
            <a:off x="1336358" y="5603200"/>
            <a:ext cx="1947148" cy="243245"/>
          </a:xfrm>
          <a:prstGeom prst="rect">
            <a:avLst/>
          </a:prstGeom>
          <a:noFill/>
          <a:ln/>
        </p:spPr>
        <p:txBody>
          <a:bodyPr wrap="none" lIns="0" tIns="0" rIns="0" bIns="0" rtlCol="0" anchor="t"/>
          <a:lstStyle/>
          <a:p>
            <a:pPr marL="0" indent="0" algn="l">
              <a:lnSpc>
                <a:spcPts val="1900"/>
              </a:lnSpc>
              <a:buNone/>
            </a:pPr>
            <a:r>
              <a:rPr lang="en-US" sz="1500" b="1" dirty="0">
                <a:solidFill>
                  <a:srgbClr val="403C4E"/>
                </a:solidFill>
                <a:latin typeface="Merriweather Bold" pitchFamily="34" charset="0"/>
                <a:ea typeface="Merriweather Bold" pitchFamily="34" charset="-122"/>
                <a:cs typeface="Merriweather Bold" pitchFamily="34" charset="-120"/>
              </a:rPr>
              <a:t>Commit</a:t>
            </a:r>
            <a:endParaRPr lang="en-US" sz="1500" dirty="0"/>
          </a:p>
        </p:txBody>
      </p:sp>
      <p:sp>
        <p:nvSpPr>
          <p:cNvPr id="10" name="Text 6"/>
          <p:cNvSpPr/>
          <p:nvPr/>
        </p:nvSpPr>
        <p:spPr>
          <a:xfrm>
            <a:off x="1336358" y="5919788"/>
            <a:ext cx="3686532" cy="222290"/>
          </a:xfrm>
          <a:prstGeom prst="rect">
            <a:avLst/>
          </a:prstGeom>
          <a:noFill/>
          <a:ln/>
        </p:spPr>
        <p:txBody>
          <a:bodyPr wrap="none" lIns="0" tIns="0" rIns="0" bIns="0" rtlCol="0" anchor="t"/>
          <a:lstStyle/>
          <a:p>
            <a:pPr marL="0" indent="0" algn="l">
              <a:lnSpc>
                <a:spcPts val="1750"/>
              </a:lnSpc>
              <a:buNone/>
            </a:pPr>
            <a:r>
              <a:rPr lang="en-US" sz="1200" dirty="0">
                <a:solidFill>
                  <a:srgbClr val="403C4E"/>
                </a:solidFill>
                <a:latin typeface="Open Sans" pitchFamily="34" charset="0"/>
                <a:ea typeface="Open Sans" pitchFamily="34" charset="-122"/>
                <a:cs typeface="Open Sans" pitchFamily="34" charset="-120"/>
              </a:rPr>
              <a:t>"I will build my portfolio this month"</a:t>
            </a:r>
            <a:endParaRPr lang="en-US" sz="1200" dirty="0"/>
          </a:p>
        </p:txBody>
      </p:sp>
      <p:sp>
        <p:nvSpPr>
          <p:cNvPr id="11" name="Shape 7"/>
          <p:cNvSpPr/>
          <p:nvPr/>
        </p:nvSpPr>
        <p:spPr>
          <a:xfrm>
            <a:off x="5308402" y="4850368"/>
            <a:ext cx="4013359" cy="1455063"/>
          </a:xfrm>
          <a:prstGeom prst="roundRect">
            <a:avLst>
              <a:gd name="adj" fmla="val 4497"/>
            </a:avLst>
          </a:prstGeom>
          <a:solidFill>
            <a:srgbClr val="FFD8CC"/>
          </a:solidFill>
          <a:ln w="7620">
            <a:solidFill>
              <a:srgbClr val="E5BEB2"/>
            </a:solidFill>
            <a:prstDash val="solid"/>
          </a:ln>
        </p:spPr>
        <p:txBody>
          <a:bodyPr/>
          <a:lstStyle/>
          <a:p>
            <a:endParaRPr lang="en-US"/>
          </a:p>
        </p:txBody>
      </p:sp>
      <p:sp>
        <p:nvSpPr>
          <p:cNvPr id="12" name="Shape 8"/>
          <p:cNvSpPr/>
          <p:nvPr/>
        </p:nvSpPr>
        <p:spPr>
          <a:xfrm>
            <a:off x="5471755" y="5013722"/>
            <a:ext cx="467320" cy="467320"/>
          </a:xfrm>
          <a:prstGeom prst="roundRect">
            <a:avLst>
              <a:gd name="adj" fmla="val 19564935"/>
            </a:avLst>
          </a:prstGeom>
          <a:solidFill>
            <a:srgbClr val="FFAD94"/>
          </a:solidFill>
          <a:ln/>
        </p:spPr>
        <p:txBody>
          <a:bodyPr/>
          <a:lstStyle/>
          <a:p>
            <a:endParaRPr lang="en-US"/>
          </a:p>
        </p:txBody>
      </p:sp>
      <p:pic>
        <p:nvPicPr>
          <p:cNvPr id="13"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00224" y="5142190"/>
            <a:ext cx="210264" cy="210264"/>
          </a:xfrm>
          <a:prstGeom prst="rect">
            <a:avLst/>
          </a:prstGeom>
        </p:spPr>
      </p:pic>
      <p:sp>
        <p:nvSpPr>
          <p:cNvPr id="14" name="Text 9"/>
          <p:cNvSpPr/>
          <p:nvPr/>
        </p:nvSpPr>
        <p:spPr>
          <a:xfrm>
            <a:off x="5471755" y="5603200"/>
            <a:ext cx="1947148" cy="243245"/>
          </a:xfrm>
          <a:prstGeom prst="rect">
            <a:avLst/>
          </a:prstGeom>
          <a:noFill/>
          <a:ln/>
        </p:spPr>
        <p:txBody>
          <a:bodyPr wrap="none" lIns="0" tIns="0" rIns="0" bIns="0" rtlCol="0" anchor="t"/>
          <a:lstStyle/>
          <a:p>
            <a:pPr marL="0" indent="0" algn="l">
              <a:lnSpc>
                <a:spcPts val="1900"/>
              </a:lnSpc>
              <a:buNone/>
            </a:pPr>
            <a:r>
              <a:rPr lang="en-US" sz="1500" b="1" dirty="0">
                <a:solidFill>
                  <a:srgbClr val="403C4E"/>
                </a:solidFill>
                <a:latin typeface="Merriweather Bold" pitchFamily="34" charset="0"/>
                <a:ea typeface="Merriweather Bold" pitchFamily="34" charset="-122"/>
                <a:cs typeface="Merriweather Bold" pitchFamily="34" charset="-120"/>
              </a:rPr>
              <a:t>Start</a:t>
            </a:r>
            <a:endParaRPr lang="en-US" sz="1500" dirty="0"/>
          </a:p>
        </p:txBody>
      </p:sp>
      <p:sp>
        <p:nvSpPr>
          <p:cNvPr id="15" name="Text 10"/>
          <p:cNvSpPr/>
          <p:nvPr/>
        </p:nvSpPr>
        <p:spPr>
          <a:xfrm>
            <a:off x="5471755" y="5919788"/>
            <a:ext cx="3686651" cy="222290"/>
          </a:xfrm>
          <a:prstGeom prst="rect">
            <a:avLst/>
          </a:prstGeom>
          <a:noFill/>
          <a:ln/>
        </p:spPr>
        <p:txBody>
          <a:bodyPr wrap="none" lIns="0" tIns="0" rIns="0" bIns="0" rtlCol="0" anchor="t"/>
          <a:lstStyle/>
          <a:p>
            <a:pPr marL="0" indent="0" algn="l">
              <a:lnSpc>
                <a:spcPts val="1750"/>
              </a:lnSpc>
              <a:buNone/>
            </a:pPr>
            <a:r>
              <a:rPr lang="en-US" sz="1200" dirty="0">
                <a:solidFill>
                  <a:srgbClr val="403C4E"/>
                </a:solidFill>
                <a:latin typeface="Open Sans" pitchFamily="34" charset="0"/>
                <a:ea typeface="Open Sans" pitchFamily="34" charset="-122"/>
                <a:cs typeface="Open Sans" pitchFamily="34" charset="-120"/>
              </a:rPr>
              <a:t>Open freecodecamp.org right now</a:t>
            </a:r>
            <a:endParaRPr lang="en-US" sz="1200" dirty="0"/>
          </a:p>
        </p:txBody>
      </p:sp>
      <p:sp>
        <p:nvSpPr>
          <p:cNvPr id="16" name="Shape 11"/>
          <p:cNvSpPr/>
          <p:nvPr/>
        </p:nvSpPr>
        <p:spPr>
          <a:xfrm>
            <a:off x="9443918" y="4850368"/>
            <a:ext cx="4013240" cy="1455063"/>
          </a:xfrm>
          <a:prstGeom prst="roundRect">
            <a:avLst>
              <a:gd name="adj" fmla="val 4497"/>
            </a:avLst>
          </a:prstGeom>
          <a:solidFill>
            <a:srgbClr val="FFD8CC"/>
          </a:solidFill>
          <a:ln w="7620">
            <a:solidFill>
              <a:srgbClr val="E5BEB2"/>
            </a:solidFill>
            <a:prstDash val="solid"/>
          </a:ln>
        </p:spPr>
        <p:txBody>
          <a:bodyPr/>
          <a:lstStyle/>
          <a:p>
            <a:endParaRPr lang="en-US"/>
          </a:p>
        </p:txBody>
      </p:sp>
      <p:sp>
        <p:nvSpPr>
          <p:cNvPr id="17" name="Shape 12"/>
          <p:cNvSpPr/>
          <p:nvPr/>
        </p:nvSpPr>
        <p:spPr>
          <a:xfrm>
            <a:off x="9607272" y="5013722"/>
            <a:ext cx="467320" cy="467320"/>
          </a:xfrm>
          <a:prstGeom prst="roundRect">
            <a:avLst>
              <a:gd name="adj" fmla="val 19564935"/>
            </a:avLst>
          </a:prstGeom>
          <a:solidFill>
            <a:srgbClr val="FFAD94"/>
          </a:solidFill>
          <a:ln/>
        </p:spPr>
        <p:txBody>
          <a:bodyPr/>
          <a:lstStyle/>
          <a:p>
            <a:endParaRPr lang="en-US"/>
          </a:p>
        </p:txBody>
      </p:sp>
      <p:pic>
        <p:nvPicPr>
          <p:cNvPr id="18"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35741" y="5142190"/>
            <a:ext cx="210264" cy="210264"/>
          </a:xfrm>
          <a:prstGeom prst="rect">
            <a:avLst/>
          </a:prstGeom>
        </p:spPr>
      </p:pic>
      <p:sp>
        <p:nvSpPr>
          <p:cNvPr id="19" name="Text 13"/>
          <p:cNvSpPr/>
          <p:nvPr/>
        </p:nvSpPr>
        <p:spPr>
          <a:xfrm>
            <a:off x="9607272" y="5603200"/>
            <a:ext cx="1947148" cy="243245"/>
          </a:xfrm>
          <a:prstGeom prst="rect">
            <a:avLst/>
          </a:prstGeom>
          <a:noFill/>
          <a:ln/>
        </p:spPr>
        <p:txBody>
          <a:bodyPr wrap="none" lIns="0" tIns="0" rIns="0" bIns="0" rtlCol="0" anchor="t"/>
          <a:lstStyle/>
          <a:p>
            <a:pPr marL="0" indent="0" algn="l">
              <a:lnSpc>
                <a:spcPts val="1900"/>
              </a:lnSpc>
              <a:buNone/>
            </a:pPr>
            <a:r>
              <a:rPr lang="en-US" sz="1500" b="1" dirty="0">
                <a:solidFill>
                  <a:srgbClr val="403C4E"/>
                </a:solidFill>
                <a:latin typeface="Merriweather Bold" pitchFamily="34" charset="0"/>
                <a:ea typeface="Merriweather Bold" pitchFamily="34" charset="-122"/>
                <a:cs typeface="Merriweather Bold" pitchFamily="34" charset="-120"/>
              </a:rPr>
              <a:t>Share</a:t>
            </a:r>
            <a:endParaRPr lang="en-US" sz="1500" dirty="0"/>
          </a:p>
        </p:txBody>
      </p:sp>
      <p:sp>
        <p:nvSpPr>
          <p:cNvPr id="20" name="Text 14"/>
          <p:cNvSpPr/>
          <p:nvPr/>
        </p:nvSpPr>
        <p:spPr>
          <a:xfrm>
            <a:off x="9607272" y="5919788"/>
            <a:ext cx="3686532" cy="222290"/>
          </a:xfrm>
          <a:prstGeom prst="rect">
            <a:avLst/>
          </a:prstGeom>
          <a:noFill/>
          <a:ln/>
        </p:spPr>
        <p:txBody>
          <a:bodyPr wrap="none" lIns="0" tIns="0" rIns="0" bIns="0" rtlCol="0" anchor="t"/>
          <a:lstStyle/>
          <a:p>
            <a:pPr marL="0" indent="0" algn="l">
              <a:lnSpc>
                <a:spcPts val="1750"/>
              </a:lnSpc>
              <a:buNone/>
            </a:pPr>
            <a:r>
              <a:rPr lang="en-US" sz="1200" dirty="0">
                <a:solidFill>
                  <a:srgbClr val="403C4E"/>
                </a:solidFill>
                <a:latin typeface="Open Sans" pitchFamily="34" charset="0"/>
                <a:ea typeface="Open Sans" pitchFamily="34" charset="-122"/>
                <a:cs typeface="Open Sans" pitchFamily="34" charset="-120"/>
              </a:rPr>
              <a:t>Join the Ajira Dev Channel for daily support</a:t>
            </a:r>
            <a:endParaRPr lang="en-US" sz="1200" dirty="0"/>
          </a:p>
        </p:txBody>
      </p:sp>
      <p:sp>
        <p:nvSpPr>
          <p:cNvPr id="21" name="Text 15"/>
          <p:cNvSpPr/>
          <p:nvPr/>
        </p:nvSpPr>
        <p:spPr>
          <a:xfrm>
            <a:off x="1173004" y="6488787"/>
            <a:ext cx="10703957" cy="671751"/>
          </a:xfrm>
          <a:prstGeom prst="rect">
            <a:avLst/>
          </a:prstGeom>
          <a:noFill/>
          <a:ln/>
        </p:spPr>
        <p:txBody>
          <a:bodyPr wrap="none" lIns="0" tIns="0" rIns="0" bIns="0" rtlCol="0" anchor="t"/>
          <a:lstStyle/>
          <a:p>
            <a:pPr marL="0" indent="0" algn="l">
              <a:lnSpc>
                <a:spcPts val="5250"/>
              </a:lnSpc>
              <a:buNone/>
            </a:pPr>
            <a:r>
              <a:rPr lang="en-US" sz="4200" b="1" dirty="0">
                <a:solidFill>
                  <a:srgbClr val="403C4E"/>
                </a:solidFill>
                <a:latin typeface="Merriweather Bold" pitchFamily="34" charset="0"/>
                <a:ea typeface="Merriweather Bold" pitchFamily="34" charset="-122"/>
                <a:cs typeface="Merriweather Bold" pitchFamily="34" charset="-120"/>
              </a:rPr>
              <a:t>See you on the deployed side. Let's build.</a:t>
            </a:r>
            <a:endParaRPr lang="en-US" sz="4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163</TotalTime>
  <Words>1293</Words>
  <Application>Microsoft Office PowerPoint</Application>
  <PresentationFormat>Custom</PresentationFormat>
  <Paragraphs>129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Merriweather Bold</vt:lpstr>
      <vt:lpstr>Merriweather Light</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Lucky Loonkishu</cp:lastModifiedBy>
  <cp:revision>2</cp:revision>
  <dcterms:created xsi:type="dcterms:W3CDTF">2026-01-31T15:25:06Z</dcterms:created>
  <dcterms:modified xsi:type="dcterms:W3CDTF">2026-01-31T18:13:06Z</dcterms:modified>
</cp:coreProperties>
</file>